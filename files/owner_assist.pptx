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3"/>
  </p:notesMasterIdLst>
  <p:sldIdLst>
    <p:sldId id="270" r:id="rId2"/>
    <p:sldId id="258" r:id="rId3"/>
    <p:sldId id="276" r:id="rId4"/>
    <p:sldId id="273" r:id="rId5"/>
    <p:sldId id="277" r:id="rId6"/>
    <p:sldId id="274" r:id="rId7"/>
    <p:sldId id="278" r:id="rId8"/>
    <p:sldId id="279" r:id="rId9"/>
    <p:sldId id="275" r:id="rId10"/>
    <p:sldId id="280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660874"/>
    <a:srgbClr val="5C307D"/>
    <a:srgbClr val="FFFFFF"/>
    <a:srgbClr val="F6F4F7"/>
    <a:srgbClr val="93549F"/>
    <a:srgbClr val="FEFDFF"/>
    <a:srgbClr val="E1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34"/>
    <p:restoredTop sz="86378"/>
  </p:normalViewPr>
  <p:slideViewPr>
    <p:cSldViewPr snapToGrid="0" snapToObjects="1">
      <p:cViewPr varScale="1">
        <p:scale>
          <a:sx n="96" d="100"/>
          <a:sy n="96" d="100"/>
        </p:scale>
        <p:origin x="748" y="56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1940-DB52-3B48-AABB-9C7938529E4E}" type="datetimeFigureOut">
              <a:rPr kumimoji="1" lang="zh-CN" altLang="en-US" smtClean="0"/>
              <a:t>2022/12/17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717E-F74C-4246-A795-6577BEDC83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29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D8CDC32-572D-47A1-BA45-FD1522B5CEA1}"/>
              </a:ext>
            </a:extLst>
          </p:cNvPr>
          <p:cNvGrpSpPr/>
          <p:nvPr userDrawn="1"/>
        </p:nvGrpSpPr>
        <p:grpSpPr>
          <a:xfrm>
            <a:off x="599226" y="1732459"/>
            <a:ext cx="10993549" cy="1907212"/>
            <a:chOff x="599225" y="1732459"/>
            <a:chExt cx="10993549" cy="1907212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7A9D506-C91D-DF44-8641-48F37CD3C15A}"/>
                </a:ext>
              </a:extLst>
            </p:cNvPr>
            <p:cNvSpPr/>
            <p:nvPr userDrawn="1"/>
          </p:nvSpPr>
          <p:spPr>
            <a:xfrm>
              <a:off x="599225" y="1736370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C216EDB-A291-4C86-911A-A3F95FDC0CF3}"/>
                </a:ext>
              </a:extLst>
            </p:cNvPr>
            <p:cNvSpPr/>
            <p:nvPr userDrawn="1"/>
          </p:nvSpPr>
          <p:spPr>
            <a:xfrm>
              <a:off x="599225" y="1732459"/>
              <a:ext cx="489346" cy="792000"/>
            </a:xfrm>
            <a:prstGeom prst="rect">
              <a:avLst/>
            </a:prstGeom>
            <a:solidFill>
              <a:srgbClr val="6608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103A73B5-4CCB-264A-803E-B46FEDFF9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1831" y="3819054"/>
            <a:ext cx="9748337" cy="134099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FB8BDD-FC0A-384D-B32A-D2CC0933A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C107-BECA-49A0-88A3-CBFCF5885D2D}" type="datetime1">
              <a:rPr kumimoji="1" lang="zh-CN" altLang="en-US" smtClean="0"/>
              <a:t>2022/12/17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A11234-2E12-B147-A4FF-3B4989798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FFF194-7BE9-7440-90F5-0BA3D1B4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030AE285-88AF-E941-9028-A7F40F9D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831" y="2028083"/>
            <a:ext cx="9748800" cy="1317600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377" y="2180498"/>
            <a:ext cx="10521387" cy="367830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B3414000-0475-7845-9508-337FFFC1B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2265DA69-D9B6-384B-91FC-5C225D983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35C1D-6A3A-4BC8-A5FA-63DDDDF6CED5}" type="datetime1">
              <a:rPr kumimoji="1" lang="zh-CN" altLang="en-US" smtClean="0"/>
              <a:t>2022/12/17</a:t>
            </a:fld>
            <a:endParaRPr kumimoji="1" lang="zh-CN" altLang="en-US"/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198CD9FF-6143-0B4F-B35B-FC5B48F3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B99E00C6-785E-8740-9B07-6D282AB53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727754-C851-C341-8EC8-C90F9BC75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285" y="2329543"/>
            <a:ext cx="9923523" cy="3391101"/>
          </a:xfrm>
        </p:spPr>
        <p:txBody>
          <a:bodyPr anchor="t">
            <a:normAutofit/>
          </a:bodyPr>
          <a:lstStyle>
            <a:lvl1pPr algn="l">
              <a:defRPr sz="2800"/>
            </a:lvl1pPr>
            <a:lvl2pPr algn="l">
              <a:defRPr sz="2400"/>
            </a:lvl2pPr>
            <a:lvl3pPr algn="l">
              <a:defRPr sz="2000"/>
            </a:lvl3pPr>
            <a:lvl4pPr algn="l">
              <a:defRPr sz="1800"/>
            </a:lvl4pPr>
            <a:lvl5pPr algn="l"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3F81271-2815-9B4A-9DE1-54434A60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5597317"/>
            <a:ext cx="2844799" cy="365125"/>
          </a:xfrm>
        </p:spPr>
        <p:txBody>
          <a:bodyPr/>
          <a:lstStyle/>
          <a:p>
            <a:fld id="{09BF96EC-4D07-411A-B8F0-539A521A6E3D}" type="datetime1">
              <a:rPr kumimoji="1" lang="zh-CN" altLang="en-US" smtClean="0"/>
              <a:t>2022/12/17</a:t>
            </a:fld>
            <a:endParaRPr kumimoji="1" lang="zh-CN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57A6457-265E-454A-8DEA-AC0A1AAC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87285" y="5592991"/>
            <a:ext cx="5811116" cy="365125"/>
          </a:xfrm>
        </p:spPr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7055F7E-60B7-6A43-A3E4-C6F9DC89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597317"/>
            <a:ext cx="1052508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989D6D-F1B5-F54E-813A-CCB6A463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285" y="865998"/>
            <a:ext cx="9923522" cy="13514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3D49990-DD79-AF4A-809C-C7A68D94B066}"/>
              </a:ext>
            </a:extLst>
          </p:cNvPr>
          <p:cNvSpPr/>
          <p:nvPr userDrawn="1"/>
        </p:nvSpPr>
        <p:spPr>
          <a:xfrm>
            <a:off x="695915" y="678673"/>
            <a:ext cx="360000" cy="583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727A51-3FBC-4883-9957-A794F7F65BF9}"/>
              </a:ext>
            </a:extLst>
          </p:cNvPr>
          <p:cNvSpPr/>
          <p:nvPr userDrawn="1"/>
        </p:nvSpPr>
        <p:spPr>
          <a:xfrm>
            <a:off x="695915" y="1261873"/>
            <a:ext cx="360000" cy="49174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EA6CC6FD-0536-1042-94FB-7B29BCD323E4}"/>
              </a:ext>
            </a:extLst>
          </p:cNvPr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BB59113-F03A-6147-A467-92DB82160BCD}"/>
                </a:ext>
              </a:extLst>
            </p:cNvPr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C3E5866-268A-1A4A-BD63-7247C0C32E7C}"/>
                </a:ext>
              </a:extLst>
            </p:cNvPr>
            <p:cNvSpPr/>
            <p:nvPr userDrawn="1"/>
          </p:nvSpPr>
          <p:spPr>
            <a:xfrm>
              <a:off x="599227" y="1921566"/>
              <a:ext cx="192900" cy="19033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7" name="日期占位符 10">
            <a:extLst>
              <a:ext uri="{FF2B5EF4-FFF2-40B4-BE49-F238E27FC236}">
                <a16:creationId xmlns:a16="http://schemas.microsoft.com/office/drawing/2014/main" id="{2D4038F2-9086-4849-856C-3F44B96D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23545" y="5597323"/>
            <a:ext cx="2523280" cy="365125"/>
          </a:xfrm>
        </p:spPr>
        <p:txBody>
          <a:bodyPr/>
          <a:lstStyle/>
          <a:p>
            <a:fld id="{FCC3DF88-F808-4C39-8F95-9C14E59DDEE1}" type="datetime1">
              <a:rPr kumimoji="1" lang="zh-CN" altLang="en-US" smtClean="0"/>
              <a:t>2022/12/17</a:t>
            </a:fld>
            <a:endParaRPr kumimoji="1" lang="zh-CN" altLang="en-US"/>
          </a:p>
        </p:txBody>
      </p:sp>
      <p:sp>
        <p:nvSpPr>
          <p:cNvPr id="28" name="页脚占位符 11">
            <a:extLst>
              <a:ext uri="{FF2B5EF4-FFF2-40B4-BE49-F238E27FC236}">
                <a16:creationId xmlns:a16="http://schemas.microsoft.com/office/drawing/2014/main" id="{0ED79189-463D-A34A-93FE-02DAF3CA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377" y="5592997"/>
            <a:ext cx="6585500" cy="365125"/>
          </a:xfrm>
        </p:spPr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 dirty="0"/>
          </a:p>
        </p:txBody>
      </p:sp>
      <p:sp>
        <p:nvSpPr>
          <p:cNvPr id="29" name="灯片编号占位符 12">
            <a:extLst>
              <a:ext uri="{FF2B5EF4-FFF2-40B4-BE49-F238E27FC236}">
                <a16:creationId xmlns:a16="http://schemas.microsoft.com/office/drawing/2014/main" id="{81D88334-B4F7-F340-8AA4-0865A0C0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1493" y="5597323"/>
            <a:ext cx="120327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02FBCA2-8AC8-4B46-8CCD-69EDADC02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7" y="2022534"/>
            <a:ext cx="10267200" cy="13824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C752BD4-8A44-D64D-B845-986E21B7D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7" y="3819054"/>
            <a:ext cx="10265664" cy="1340999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BC63-BB84-4AE7-9581-49AB0E8D01CD}" type="datetime1">
              <a:rPr kumimoji="1" lang="zh-CN" altLang="en-US" smtClean="0"/>
              <a:t>2022/12/17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0C7D26-A2BB-CE43-BB2A-2808F22C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660874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660874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0E475-A1AD-46B2-959F-0BC49E161317}" type="datetime1">
              <a:rPr kumimoji="1" lang="zh-CN" altLang="en-US" smtClean="0"/>
              <a:t>2022/12/17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5155F9-0BCA-F049-9D40-4CF28F90A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5CF1-9FF6-44B2-965A-84F13C9AB36C}" type="datetime1">
              <a:rPr kumimoji="1" lang="zh-CN" altLang="en-US" smtClean="0"/>
              <a:t>2022/12/17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C31502A-7294-9848-AFF1-6116ACE1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EED1C-FD81-4459-9A25-DAF302DAE66A}" type="datetime1">
              <a:rPr kumimoji="1" lang="zh-CN" altLang="en-US" smtClean="0"/>
              <a:t>2022/12/17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DD0108F8-765A-DF43-9CAF-934132882EE3}"/>
              </a:ext>
            </a:extLst>
          </p:cNvPr>
          <p:cNvSpPr>
            <a:spLocks noChangeAspect="1"/>
          </p:cNvSpPr>
          <p:nvPr userDrawn="1"/>
        </p:nvSpPr>
        <p:spPr>
          <a:xfrm>
            <a:off x="447816" y="4914808"/>
            <a:ext cx="385561" cy="1032227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1463" y="4928762"/>
            <a:ext cx="10333301" cy="65314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0">
                <a:solidFill>
                  <a:srgbClr val="660874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1463" y="5581910"/>
            <a:ext cx="10333301" cy="36512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rgbClr val="660874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451282BD-10C7-4442-892B-E8FEFE30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23545" y="6088813"/>
            <a:ext cx="2523280" cy="365125"/>
          </a:xfrm>
        </p:spPr>
        <p:txBody>
          <a:bodyPr/>
          <a:lstStyle/>
          <a:p>
            <a:fld id="{566A81CA-1CDB-4041-829C-18091F008B7C}" type="datetime1">
              <a:rPr kumimoji="1" lang="zh-CN" altLang="en-US" smtClean="0"/>
              <a:t>2022/12/17</a:t>
            </a:fld>
            <a:endParaRPr kumimoji="1"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AB4D4DE8-6CE5-7146-97D4-07B9C9043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377" y="6084487"/>
            <a:ext cx="6585500" cy="365125"/>
          </a:xfrm>
        </p:spPr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EB1C0495-D0F2-7747-B5EB-46C127796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1493" y="6088813"/>
            <a:ext cx="120327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C8DF2-E8D8-4101-BAF8-A4A920E574BA}" type="datetime1">
              <a:rPr kumimoji="1" lang="zh-CN" altLang="en-US" smtClean="0"/>
              <a:t>2022/12/17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1B20-7CD5-4BD2-85DA-BB4B9E96A07B}" type="datetime1">
              <a:rPr kumimoji="1" lang="zh-CN" altLang="en-US" smtClean="0"/>
              <a:t>2022/12/17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D92ADC6-CE60-BE46-B46D-E72C08A66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5BC0A53C-150C-A541-93A8-A5B4C7EFDD96}"/>
              </a:ext>
            </a:extLst>
          </p:cNvPr>
          <p:cNvSpPr>
            <a:spLocks noChangeAspect="1"/>
          </p:cNvSpPr>
          <p:nvPr userDrawn="1"/>
        </p:nvSpPr>
        <p:spPr>
          <a:xfrm>
            <a:off x="8884030" y="675726"/>
            <a:ext cx="88976" cy="7918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Vertical Title 1">
            <a:extLst>
              <a:ext uri="{FF2B5EF4-FFF2-40B4-BE49-F238E27FC236}">
                <a16:creationId xmlns:a16="http://schemas.microsoft.com/office/drawing/2014/main" id="{9D3F700B-2D07-A448-9622-360F28D96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prstGeom prst="rect">
            <a:avLst/>
          </a:prstGeom>
        </p:spPr>
        <p:txBody>
          <a:bodyPr vert="eaVert"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5F0B6C42-B8E7-1C45-A053-18F7FE5B2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C89D33-28DC-B746-AE7D-E6085CC30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7EECA-A2C6-4B2A-8A1D-891A7C1B473F}" type="datetime1">
              <a:rPr kumimoji="1" lang="zh-CN" altLang="en-US" smtClean="0"/>
              <a:t>2022/12/17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E1EF53-0E9B-E243-B4F1-B1C7F0BD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3DA247-823F-034B-AEC0-494674B6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A3BF425-86B0-F846-8CE5-D4D4E55EFE0D}"/>
              </a:ext>
            </a:extLst>
          </p:cNvPr>
          <p:cNvSpPr/>
          <p:nvPr userDrawn="1"/>
        </p:nvSpPr>
        <p:spPr>
          <a:xfrm>
            <a:off x="586670" y="654624"/>
            <a:ext cx="82800" cy="89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占位符 6">
            <a:extLst>
              <a:ext uri="{FF2B5EF4-FFF2-40B4-BE49-F238E27FC236}">
                <a16:creationId xmlns:a16="http://schemas.microsoft.com/office/drawing/2014/main" id="{386CB2C2-B0CA-6B4C-9D67-BC3A516A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06" y="593424"/>
            <a:ext cx="10521388" cy="101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376" y="2336003"/>
            <a:ext cx="10521388" cy="3154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23545" y="5597323"/>
            <a:ext cx="2523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842A012-D673-47C8-A975-BF6A11D148BB}" type="datetime1">
              <a:rPr kumimoji="1" lang="zh-CN" altLang="en-US" smtClean="0"/>
              <a:t>2022/12/17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3377" y="5592997"/>
            <a:ext cx="65855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51493" y="5597323"/>
            <a:ext cx="1203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hf hdr="0" dt="0"/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rgbClr val="660874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9456EDC8-6865-C043-9F52-A5101097F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1831" y="3819054"/>
            <a:ext cx="9748337" cy="1340999"/>
          </a:xfrm>
        </p:spPr>
        <p:txBody>
          <a:bodyPr>
            <a:normAutofit/>
          </a:bodyPr>
          <a:lstStyle/>
          <a:p>
            <a:r>
              <a:rPr lang="en-US" altLang="zh-CN" dirty="0"/>
              <a:t>Shi</a:t>
            </a:r>
            <a:r>
              <a:rPr lang="zh-CN" altLang="en-US" dirty="0"/>
              <a:t> </a:t>
            </a:r>
            <a:r>
              <a:rPr lang="en-US" altLang="zh-CN" dirty="0"/>
              <a:t>Feng</a:t>
            </a:r>
            <a:r>
              <a:rPr lang="en-US" altLang="zh-CN" baseline="30000" dirty="0"/>
              <a:t>1</a:t>
            </a:r>
            <a:r>
              <a:rPr lang="en-US" altLang="zh-CN" dirty="0"/>
              <a:t> (co-advised by Prof.  Yuhao Wang</a:t>
            </a:r>
            <a:r>
              <a:rPr lang="en-US" altLang="zh-CN" baseline="30000" dirty="0"/>
              <a:t>1</a:t>
            </a:r>
            <a:r>
              <a:rPr lang="en-US" altLang="zh-CN" dirty="0"/>
              <a:t> and Prof.  </a:t>
            </a:r>
            <a:r>
              <a:rPr lang="en-US" altLang="zh-CN" dirty="0" err="1"/>
              <a:t>Weijie</a:t>
            </a:r>
            <a:r>
              <a:rPr lang="en-US" altLang="zh-CN" dirty="0"/>
              <a:t> Su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2022.12.18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F005E0-9377-9044-8967-57A41606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831" y="2028083"/>
            <a:ext cx="9748800" cy="1317600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Multi-Agent Owner-Assisted Scoring Mechanisms</a:t>
            </a:r>
            <a:endParaRPr lang="zh-CN" altLang="en-US" sz="3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22098F-5D2E-D53F-21B0-9919BBD1D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377" y="5775559"/>
            <a:ext cx="6585500" cy="365125"/>
          </a:xfrm>
        </p:spPr>
        <p:txBody>
          <a:bodyPr/>
          <a:lstStyle/>
          <a:p>
            <a:pPr marL="228600" indent="-228600">
              <a:buAutoNum type="arabicPeriod"/>
            </a:pPr>
            <a:r>
              <a:rPr kumimoji="1" lang="en-US" altLang="zh-CN"/>
              <a:t>Institute of Interdisciplinary Information Sciences (IIIS), Tsinghua University</a:t>
            </a:r>
          </a:p>
          <a:p>
            <a:pPr marL="228600" indent="-228600">
              <a:buAutoNum type="arabicPeriod"/>
            </a:pPr>
            <a:r>
              <a:rPr kumimoji="1" lang="en-US" altLang="zh-CN"/>
              <a:t>Wharton Statistics and Data Science Department, University of Pennsylvania</a:t>
            </a:r>
            <a:endParaRPr kumimoji="1"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12C32-410C-C815-5843-B253B0412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7923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285" y="2329543"/>
            <a:ext cx="9923523" cy="3391101"/>
          </a:xfrm>
        </p:spPr>
        <p:txBody>
          <a:bodyPr anchor="t"/>
          <a:lstStyle/>
          <a:p>
            <a:r>
              <a:rPr lang="en-US" altLang="zh-CN" dirty="0">
                <a:solidFill>
                  <a:schemeClr val="accent1"/>
                </a:solidFill>
              </a:rPr>
              <a:t>Backgrounds</a:t>
            </a:r>
          </a:p>
          <a:p>
            <a:r>
              <a:rPr lang="en-US" altLang="zh-CN" dirty="0"/>
              <a:t>A Mechanism</a:t>
            </a:r>
            <a:r>
              <a:rPr lang="zh-CN" altLang="en-US" dirty="0"/>
              <a:t> </a:t>
            </a:r>
            <a:r>
              <a:rPr lang="en-US" altLang="zh-CN" dirty="0"/>
              <a:t>for Two Agents</a:t>
            </a:r>
          </a:p>
          <a:p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Extension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Agents</a:t>
            </a:r>
          </a:p>
          <a:p>
            <a:r>
              <a:rPr lang="en-US" altLang="zh-CN" dirty="0"/>
              <a:t>Simulations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285" y="865998"/>
            <a:ext cx="9923522" cy="1351451"/>
          </a:xfrm>
        </p:spPr>
        <p:txBody>
          <a:bodyPr/>
          <a:lstStyle/>
          <a:p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0C06A-CB13-5E1D-70B4-B6B6D9FE8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580982-1A91-3484-14D8-1CFB10E3A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923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4CCBE66-029B-1A42-8B93-5DED4C28F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06" y="593424"/>
            <a:ext cx="10521388" cy="1015200"/>
          </a:xfrm>
        </p:spPr>
        <p:txBody>
          <a:bodyPr/>
          <a:lstStyle/>
          <a:p>
            <a:r>
              <a:rPr lang="en-US" altLang="zh-CN" dirty="0"/>
              <a:t>Why we need owner-assisted scoring?</a:t>
            </a:r>
            <a:endParaRPr lang="zh-CN" altLang="en-US" dirty="0"/>
          </a:p>
        </p:txBody>
      </p:sp>
      <p:pic>
        <p:nvPicPr>
          <p:cNvPr id="1026" name="Picture 2" descr="Carbon taxes in Europe 2022 carbon tax rates in Europe EU carbon tax">
            <a:extLst>
              <a:ext uri="{FF2B5EF4-FFF2-40B4-BE49-F238E27FC236}">
                <a16:creationId xmlns:a16="http://schemas.microsoft.com/office/drawing/2014/main" id="{635D7570-83B1-9E9B-1040-E8DB084975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35"/>
          <a:stretch/>
        </p:blipFill>
        <p:spPr bwMode="auto">
          <a:xfrm>
            <a:off x="6326881" y="2003028"/>
            <a:ext cx="3810928" cy="3285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uction Estimates - Finding the Sweet Spot">
            <a:extLst>
              <a:ext uri="{FF2B5EF4-FFF2-40B4-BE49-F238E27FC236}">
                <a16:creationId xmlns:a16="http://schemas.microsoft.com/office/drawing/2014/main" id="{F26B5C22-2B5A-D7C2-1234-902E0DA26E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68"/>
          <a:stretch/>
        </p:blipFill>
        <p:spPr bwMode="auto">
          <a:xfrm>
            <a:off x="1388136" y="1871133"/>
            <a:ext cx="4476984" cy="354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474B03-8CEF-1F03-0E3B-D7EFE0C04FB7}"/>
              </a:ext>
            </a:extLst>
          </p:cNvPr>
          <p:cNvSpPr txBox="1"/>
          <p:nvPr/>
        </p:nvSpPr>
        <p:spPr>
          <a:xfrm>
            <a:off x="2037522" y="5707058"/>
            <a:ext cx="8116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Soliciting information from owners to improve value estimation!</a:t>
            </a:r>
            <a:endParaRPr lang="zh-CN" altLang="en-US" sz="2400" dirty="0"/>
          </a:p>
        </p:txBody>
      </p:sp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C81D0A91-5D87-999C-8E1E-4D2102F43573}"/>
              </a:ext>
            </a:extLst>
          </p:cNvPr>
          <p:cNvSpPr/>
          <p:nvPr/>
        </p:nvSpPr>
        <p:spPr>
          <a:xfrm>
            <a:off x="8715166" y="1136905"/>
            <a:ext cx="2325757" cy="1205948"/>
          </a:xfrm>
          <a:prstGeom prst="cloud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Taxing requires information from multiple owners.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9F7A42F3-24A1-2BA3-7368-5CABA400940C}"/>
              </a:ext>
            </a:extLst>
          </p:cNvPr>
          <p:cNvSpPr/>
          <p:nvPr/>
        </p:nvSpPr>
        <p:spPr>
          <a:xfrm flipH="1">
            <a:off x="205406" y="1635129"/>
            <a:ext cx="2080594" cy="1146313"/>
          </a:xfrm>
          <a:prstGeom prst="cloud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Single-agent (artist/collector) scoring. </a:t>
            </a:r>
            <a:r>
              <a:rPr lang="en-US" altLang="zh-CN" sz="1400" baseline="30000" dirty="0">
                <a:solidFill>
                  <a:schemeClr val="accent1"/>
                </a:solidFill>
              </a:rPr>
              <a:t>1</a:t>
            </a:r>
            <a:endParaRPr lang="zh-CN" altLang="en-US" sz="1400" baseline="30000" dirty="0">
              <a:solidFill>
                <a:schemeClr val="accent1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79CC267-8301-307F-DA51-730A56ABF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377" y="6251903"/>
            <a:ext cx="6585500" cy="365125"/>
          </a:xfrm>
        </p:spPr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 i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AF5D96-E7A0-C74C-A434-71F81A4F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361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285" y="2329543"/>
            <a:ext cx="9923523" cy="3391101"/>
          </a:xfrm>
        </p:spPr>
        <p:txBody>
          <a:bodyPr anchor="t"/>
          <a:lstStyle/>
          <a:p>
            <a:r>
              <a:rPr lang="en-US" altLang="zh-CN" dirty="0"/>
              <a:t>Background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A Mechanism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for Two Agents</a:t>
            </a:r>
          </a:p>
          <a:p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Extension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Agents</a:t>
            </a:r>
          </a:p>
          <a:p>
            <a:r>
              <a:rPr lang="en-US" altLang="zh-CN" dirty="0"/>
              <a:t>Simulations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285" y="865998"/>
            <a:ext cx="9923522" cy="1351451"/>
          </a:xfrm>
        </p:spPr>
        <p:txBody>
          <a:bodyPr/>
          <a:lstStyle/>
          <a:p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89A03-0E50-5A0C-EFCC-A3EF63358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3EA7E-3949-7851-738C-29A8306D3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5934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A82D175-6847-02BD-D09D-CC3343C20939}"/>
              </a:ext>
            </a:extLst>
          </p:cNvPr>
          <p:cNvSpPr/>
          <p:nvPr/>
        </p:nvSpPr>
        <p:spPr>
          <a:xfrm>
            <a:off x="386080" y="2953173"/>
            <a:ext cx="7708054" cy="34408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标题 2">
                <a:extLst>
                  <a:ext uri="{FF2B5EF4-FFF2-40B4-BE49-F238E27FC236}">
                    <a16:creationId xmlns:a16="http://schemas.microsoft.com/office/drawing/2014/main" id="{E4CCBE66-029B-1A42-8B93-5DED4C28F3F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5306" y="593424"/>
                <a:ext cx="10521388" cy="1015200"/>
              </a:xfrm>
            </p:spPr>
            <p:txBody>
              <a:bodyPr/>
              <a:lstStyle/>
              <a:p>
                <a:r>
                  <a:rPr lang="en-US" altLang="zh-CN" dirty="0"/>
                  <a:t>Mechanism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ℳ</m:t>
                        </m:r>
                      </m:e>
                      <m:sub>
                        <m:r>
                          <a:rPr lang="en-US" altLang="zh-CN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for Two Agents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标题 2">
                <a:extLst>
                  <a:ext uri="{FF2B5EF4-FFF2-40B4-BE49-F238E27FC236}">
                    <a16:creationId xmlns:a16="http://schemas.microsoft.com/office/drawing/2014/main" id="{E4CCBE66-029B-1A42-8B93-5DED4C28F3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5306" y="593424"/>
                <a:ext cx="10521388" cy="1015200"/>
              </a:xfrm>
              <a:blipFill>
                <a:blip r:embed="rId2"/>
                <a:stretch>
                  <a:fillRect l="-1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06F3AB7A-29CB-16A4-F3BE-22744B537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628" y="4478302"/>
            <a:ext cx="1254904" cy="1395307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09BF6073-9F49-B9FE-F6CD-0F8B0B26F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5306" y="5029787"/>
            <a:ext cx="890916" cy="843822"/>
          </a:xfrm>
          <a:prstGeom prst="rect">
            <a:avLst/>
          </a:prstGeom>
        </p:spPr>
      </p:pic>
      <p:pic>
        <p:nvPicPr>
          <p:cNvPr id="13" name="Picture 12" descr="A picture containing text, metalware, hinge&#10;&#10;Description automatically generated">
            <a:extLst>
              <a:ext uri="{FF2B5EF4-FFF2-40B4-BE49-F238E27FC236}">
                <a16:creationId xmlns:a16="http://schemas.microsoft.com/office/drawing/2014/main" id="{C50E7CFA-9E75-1B4A-0789-A63DE9BF13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242" y="5280185"/>
            <a:ext cx="593424" cy="593424"/>
          </a:xfrm>
          <a:prstGeom prst="rect">
            <a:avLst/>
          </a:prstGeom>
        </p:spPr>
      </p:pic>
      <p:pic>
        <p:nvPicPr>
          <p:cNvPr id="14" name="Picture 13" descr="A picture containing text, metalware, hinge&#10;&#10;Description automatically generated">
            <a:extLst>
              <a:ext uri="{FF2B5EF4-FFF2-40B4-BE49-F238E27FC236}">
                <a16:creationId xmlns:a16="http://schemas.microsoft.com/office/drawing/2014/main" id="{E92CED3B-26D2-66A9-3DED-9962A3F5E7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9916" y="5280185"/>
            <a:ext cx="593424" cy="5934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1260D8-C00B-65BC-AAA6-404069ECFA31}"/>
                  </a:ext>
                </a:extLst>
              </p:cNvPr>
              <p:cNvSpPr txBox="1"/>
              <p:nvPr/>
            </p:nvSpPr>
            <p:spPr>
              <a:xfrm>
                <a:off x="1577604" y="5392231"/>
                <a:ext cx="4926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solidFill>
                                <a:schemeClr val="accent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solidFill>
                                <a:schemeClr val="accent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800" i="1" kern="100">
                              <a:solidFill>
                                <a:schemeClr val="accent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zh-CN" sz="1800" kern="100" dirty="0">
                  <a:solidFill>
                    <a:schemeClr val="accent1"/>
                  </a:solidFill>
                  <a:effectLst/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1260D8-C00B-65BC-AAA6-404069ECF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604" y="5392231"/>
                <a:ext cx="49269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4E1406-5D74-7931-B569-F03EDE772BEC}"/>
                  </a:ext>
                </a:extLst>
              </p:cNvPr>
              <p:cNvSpPr txBox="1"/>
              <p:nvPr/>
            </p:nvSpPr>
            <p:spPr>
              <a:xfrm>
                <a:off x="6000278" y="5359965"/>
                <a:ext cx="4980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solidFill>
                                <a:schemeClr val="accent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solidFill>
                                <a:schemeClr val="accent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800" b="0" i="1" kern="100" smtClean="0">
                              <a:solidFill>
                                <a:schemeClr val="accent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zh-CN" sz="1800" kern="100" dirty="0">
                  <a:solidFill>
                    <a:schemeClr val="accent1"/>
                  </a:solidFill>
                  <a:effectLst/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4E1406-5D74-7931-B569-F03EDE772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278" y="5359965"/>
                <a:ext cx="49802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7D5FF954-84F9-F9F2-51CB-FA1BB8B82F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7941" y="1907412"/>
            <a:ext cx="1181861" cy="8863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64BD96F-51F6-0898-10F7-18BB8988067A}"/>
                  </a:ext>
                </a:extLst>
              </p:cNvPr>
              <p:cNvSpPr txBox="1"/>
              <p:nvPr/>
            </p:nvSpPr>
            <p:spPr>
              <a:xfrm>
                <a:off x="1785968" y="4736101"/>
                <a:ext cx="28838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accent1"/>
                    </a:solidFill>
                  </a:rPr>
                  <a:t>Observe Noisy/Biased Estimation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4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zh-CN" sz="1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64BD96F-51F6-0898-10F7-18BB89880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968" y="4736101"/>
                <a:ext cx="2883834" cy="307777"/>
              </a:xfrm>
              <a:prstGeom prst="rect">
                <a:avLst/>
              </a:prstGeom>
              <a:blipFill>
                <a:blip r:embed="rId9"/>
                <a:stretch>
                  <a:fillRect l="-634"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6DC67F6-BA7A-6E7D-EC80-43C61EA72D7D}"/>
                  </a:ext>
                </a:extLst>
              </p:cNvPr>
              <p:cNvSpPr txBox="1"/>
              <p:nvPr/>
            </p:nvSpPr>
            <p:spPr>
              <a:xfrm>
                <a:off x="3181274" y="4259126"/>
                <a:ext cx="29147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accent1"/>
                    </a:solidFill>
                  </a:rPr>
                  <a:t>Observe Noisy/Biased Estimation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4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zh-CN" sz="1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6DC67F6-BA7A-6E7D-EC80-43C61EA72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274" y="4259126"/>
                <a:ext cx="2914725" cy="307777"/>
              </a:xfrm>
              <a:prstGeom prst="rect">
                <a:avLst/>
              </a:prstGeom>
              <a:blipFill>
                <a:blip r:embed="rId10"/>
                <a:stretch>
                  <a:fillRect l="-628"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Speech Bubble: Oval 29">
            <a:extLst>
              <a:ext uri="{FF2B5EF4-FFF2-40B4-BE49-F238E27FC236}">
                <a16:creationId xmlns:a16="http://schemas.microsoft.com/office/drawing/2014/main" id="{9229F469-6DA7-7F83-DAE3-15FF604CEA5C}"/>
              </a:ext>
            </a:extLst>
          </p:cNvPr>
          <p:cNvSpPr/>
          <p:nvPr/>
        </p:nvSpPr>
        <p:spPr>
          <a:xfrm>
            <a:off x="4460251" y="1435824"/>
            <a:ext cx="1873538" cy="685710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Please compare your items!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Speech Bubble: Oval 30">
                <a:extLst>
                  <a:ext uri="{FF2B5EF4-FFF2-40B4-BE49-F238E27FC236}">
                    <a16:creationId xmlns:a16="http://schemas.microsoft.com/office/drawing/2014/main" id="{130EFD82-AB7A-22A6-1FC4-3A3654D47EEE}"/>
                  </a:ext>
                </a:extLst>
              </p:cNvPr>
              <p:cNvSpPr/>
              <p:nvPr/>
            </p:nvSpPr>
            <p:spPr>
              <a:xfrm>
                <a:off x="6922346" y="3861425"/>
                <a:ext cx="1047191" cy="685710"/>
              </a:xfrm>
              <a:prstGeom prst="wedgeEllipseCallou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zh-CN" sz="12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sz="12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1" name="Speech Bubble: Oval 30">
                <a:extLst>
                  <a:ext uri="{FF2B5EF4-FFF2-40B4-BE49-F238E27FC236}">
                    <a16:creationId xmlns:a16="http://schemas.microsoft.com/office/drawing/2014/main" id="{130EFD82-AB7A-22A6-1FC4-3A3654D47E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2346" y="3861425"/>
                <a:ext cx="1047191" cy="685710"/>
              </a:xfrm>
              <a:prstGeom prst="wedgeEllipseCallou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Speech Bubble: Oval 31">
                <a:extLst>
                  <a:ext uri="{FF2B5EF4-FFF2-40B4-BE49-F238E27FC236}">
                    <a16:creationId xmlns:a16="http://schemas.microsoft.com/office/drawing/2014/main" id="{5C0A9D37-B97E-E434-3E48-76D9081BB4C3}"/>
                  </a:ext>
                </a:extLst>
              </p:cNvPr>
              <p:cNvSpPr/>
              <p:nvPr/>
            </p:nvSpPr>
            <p:spPr>
              <a:xfrm flipH="1">
                <a:off x="458874" y="4204280"/>
                <a:ext cx="943683" cy="685710"/>
              </a:xfrm>
              <a:prstGeom prst="wedgeEllipseCallou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sz="120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sz="120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zh-CN" sz="1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2" name="Speech Bubble: Oval 31">
                <a:extLst>
                  <a:ext uri="{FF2B5EF4-FFF2-40B4-BE49-F238E27FC236}">
                    <a16:creationId xmlns:a16="http://schemas.microsoft.com/office/drawing/2014/main" id="{5C0A9D37-B97E-E434-3E48-76D9081BB4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58874" y="4204280"/>
                <a:ext cx="943683" cy="685710"/>
              </a:xfrm>
              <a:prstGeom prst="wedgeEllipseCallou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DD67066-271C-27C9-9989-C78050218C1B}"/>
              </a:ext>
            </a:extLst>
          </p:cNvPr>
          <p:cNvCxnSpPr>
            <a:cxnSpLocks/>
            <a:stCxn id="13" idx="0"/>
            <a:endCxn id="18" idx="2"/>
          </p:cNvCxnSpPr>
          <p:nvPr/>
        </p:nvCxnSpPr>
        <p:spPr>
          <a:xfrm flipV="1">
            <a:off x="1823954" y="2793808"/>
            <a:ext cx="2254918" cy="2486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3E1D82E-8173-EDD5-7D84-B1816CCE4D7C}"/>
              </a:ext>
            </a:extLst>
          </p:cNvPr>
          <p:cNvCxnSpPr>
            <a:cxnSpLocks/>
            <a:stCxn id="14" idx="0"/>
            <a:endCxn id="18" idx="2"/>
          </p:cNvCxnSpPr>
          <p:nvPr/>
        </p:nvCxnSpPr>
        <p:spPr>
          <a:xfrm flipH="1" flipV="1">
            <a:off x="4078872" y="2793808"/>
            <a:ext cx="2167756" cy="2486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5D777FE-CF58-3A40-73BC-95EECD6EC0C1}"/>
              </a:ext>
            </a:extLst>
          </p:cNvPr>
          <p:cNvCxnSpPr/>
          <p:nvPr/>
        </p:nvCxnSpPr>
        <p:spPr>
          <a:xfrm flipH="1">
            <a:off x="1280764" y="2643809"/>
            <a:ext cx="2113957" cy="2385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EB083E0-D738-B245-D7E0-410210D4A4C6}"/>
              </a:ext>
            </a:extLst>
          </p:cNvPr>
          <p:cNvCxnSpPr/>
          <p:nvPr/>
        </p:nvCxnSpPr>
        <p:spPr>
          <a:xfrm>
            <a:off x="4669802" y="2643809"/>
            <a:ext cx="1711120" cy="1868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76F11A7-98A1-8842-7A45-936406B95728}"/>
                  </a:ext>
                </a:extLst>
              </p:cNvPr>
              <p:cNvSpPr txBox="1"/>
              <p:nvPr/>
            </p:nvSpPr>
            <p:spPr>
              <a:xfrm>
                <a:off x="1423687" y="3562786"/>
                <a:ext cx="1345096" cy="313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accent1"/>
                    </a:solidFill>
                  </a:rPr>
                  <a:t>Return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sz="1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40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altLang="zh-CN" sz="14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zh-CN" sz="1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76F11A7-98A1-8842-7A45-936406B95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687" y="3562786"/>
                <a:ext cx="1345096" cy="313612"/>
              </a:xfrm>
              <a:prstGeom prst="rect">
                <a:avLst/>
              </a:prstGeom>
              <a:blipFill>
                <a:blip r:embed="rId13"/>
                <a:stretch>
                  <a:fillRect l="-1364" t="-1923" r="-6364" b="-1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EBD4D52-D0E5-1A1D-5E9A-0F2CA697788F}"/>
                  </a:ext>
                </a:extLst>
              </p:cNvPr>
              <p:cNvSpPr txBox="1"/>
              <p:nvPr/>
            </p:nvSpPr>
            <p:spPr>
              <a:xfrm>
                <a:off x="5577250" y="3474511"/>
                <a:ext cx="1345096" cy="313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accent1"/>
                    </a:solidFill>
                  </a:rPr>
                  <a:t>Return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sz="1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40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altLang="zh-CN" sz="14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sz="1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EBD4D52-D0E5-1A1D-5E9A-0F2CA6977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250" y="3474511"/>
                <a:ext cx="1345096" cy="313612"/>
              </a:xfrm>
              <a:prstGeom prst="rect">
                <a:avLst/>
              </a:prstGeom>
              <a:blipFill>
                <a:blip r:embed="rId14"/>
                <a:stretch>
                  <a:fillRect l="-1357" t="-1961" r="-5882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" name="TextBox 1023">
            <a:extLst>
              <a:ext uri="{FF2B5EF4-FFF2-40B4-BE49-F238E27FC236}">
                <a16:creationId xmlns:a16="http://schemas.microsoft.com/office/drawing/2014/main" id="{D9863D2F-0CF3-A27C-754D-40577D4B97A2}"/>
              </a:ext>
            </a:extLst>
          </p:cNvPr>
          <p:cNvSpPr txBox="1"/>
          <p:nvPr/>
        </p:nvSpPr>
        <p:spPr>
          <a:xfrm>
            <a:off x="6658126" y="5906687"/>
            <a:ext cx="6274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Tom</a:t>
            </a:r>
            <a:endParaRPr lang="zh-CN" altLang="en-US" sz="1200" dirty="0"/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C5194F3A-B39C-A695-BC1E-67461300BE5D}"/>
              </a:ext>
            </a:extLst>
          </p:cNvPr>
          <p:cNvSpPr txBox="1"/>
          <p:nvPr/>
        </p:nvSpPr>
        <p:spPr>
          <a:xfrm>
            <a:off x="967038" y="5902191"/>
            <a:ext cx="6274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Jerry</a:t>
            </a:r>
            <a:endParaRPr lang="zh-CN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D0DEEDE1-6D5E-243D-06BC-446D93EE8B81}"/>
                  </a:ext>
                </a:extLst>
              </p:cNvPr>
              <p:cNvSpPr txBox="1"/>
              <p:nvPr/>
            </p:nvSpPr>
            <p:spPr>
              <a:xfrm>
                <a:off x="8263755" y="3727828"/>
                <a:ext cx="3218249" cy="21685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accent1"/>
                    </a:solidFill>
                  </a:rPr>
                  <a:t>Satisfying two design goals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altLang="zh-CN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altLang="zh-CN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altLang="zh-CN" b="0" dirty="0">
                  <a:solidFill>
                    <a:schemeClr val="accent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chemeClr val="accent1"/>
                    </a:solidFill>
                  </a:rPr>
                  <a:t>incentive-compatibility (truthful</a:t>
                </a:r>
                <a:r>
                  <a:rPr lang="zh-CN" altLang="zh-CN" sz="16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sz="160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chemeClr val="accent3">
                        <a:lumMod val="50000"/>
                      </a:schemeClr>
                    </a:solidFill>
                  </a:rPr>
                  <a:t> </a:t>
                </a:r>
                <a:r>
                  <a:rPr lang="en-US" altLang="zh-CN" sz="1600" dirty="0">
                    <a:solidFill>
                      <a:schemeClr val="accent1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sz="160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chemeClr val="accent1"/>
                    </a:solidFill>
                  </a:rPr>
                  <a:t>),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kern="100" dirty="0">
                    <a:solidFill>
                      <a:schemeClr val="accent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zh-CN" sz="1600" kern="100" dirty="0">
                    <a:solidFill>
                      <a:schemeClr val="accent1"/>
                    </a:solidFill>
                    <a:effectLst/>
                    <a:ea typeface="Cambria Math" panose="02040503050406030204" pitchFamily="18" charset="0"/>
                    <a:cs typeface="Times New Roman" panose="02020603050405020304" pitchFamily="18" charset="0"/>
                  </a:rPr>
                  <a:t>stimation improvement (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"/>
                        <m:ctrlPr>
                          <a:rPr lang="zh-CN" altLang="zh-CN" sz="1600" i="1" kern="100" smtClean="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lit/>
                          </m:rPr>
                          <a:rPr lang="en-US" altLang="zh-CN" sz="1600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|</m:t>
                        </m:r>
                        <m:acc>
                          <m:accPr>
                            <m:chr m:val="̂"/>
                            <m:ctrlPr>
                              <a:rPr lang="zh-CN" altLang="zh-CN" sz="1600" b="1" i="1" kern="100">
                                <a:solidFill>
                                  <a:schemeClr val="accent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 kern="100">
                                <a:solidFill>
                                  <a:schemeClr val="accent1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𝒀</m:t>
                            </m:r>
                          </m:e>
                        </m:acc>
                        <m:r>
                          <a:rPr lang="en-US" altLang="zh-CN" sz="1600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1600" b="1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</m:d>
                    <m:sSub>
                      <m:sSubPr>
                        <m:ctrlPr>
                          <a:rPr lang="zh-CN" altLang="zh-CN" sz="1600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US" altLang="zh-CN" sz="1600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1600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zh-CN" altLang="zh-CN" sz="1600" kern="100">
                        <a:solidFill>
                          <a:schemeClr val="accent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d>
                      <m:dPr>
                        <m:begChr m:val=""/>
                        <m:endChr m:val=""/>
                        <m:ctrlPr>
                          <a:rPr lang="zh-CN" altLang="zh-CN" sz="1600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lit/>
                          </m:rPr>
                          <a:rPr lang="en-US" altLang="zh-CN" sz="1600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sz="1600" b="1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𝒀</m:t>
                        </m:r>
                        <m:r>
                          <a:rPr lang="en-US" altLang="zh-CN" sz="1600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1600" b="1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</m:d>
                    <m:sSub>
                      <m:sSubPr>
                        <m:ctrlPr>
                          <a:rPr lang="zh-CN" altLang="zh-CN" sz="1600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US" altLang="zh-CN" sz="1600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1600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chemeClr val="accent1"/>
                    </a:solidFill>
                  </a:rPr>
                  <a:t> if agents are both truthful).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zh-CN" altLang="zh-CN" dirty="0"/>
              </a:p>
            </p:txBody>
          </p:sp>
        </mc:Choice>
        <mc:Fallback xmlns=""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D0DEEDE1-6D5E-243D-06BC-446D93EE8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3755" y="3727828"/>
                <a:ext cx="3218249" cy="2168542"/>
              </a:xfrm>
              <a:prstGeom prst="rect">
                <a:avLst/>
              </a:prstGeom>
              <a:blipFill>
                <a:blip r:embed="rId15"/>
                <a:stretch>
                  <a:fillRect l="-1509" t="-1401"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29" name="Table 1028">
                <a:extLst>
                  <a:ext uri="{FF2B5EF4-FFF2-40B4-BE49-F238E27FC236}">
                    <a16:creationId xmlns:a16="http://schemas.microsoft.com/office/drawing/2014/main" id="{80BF865E-A479-D632-4F8C-EE88761F9B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6896636"/>
                  </p:ext>
                </p:extLst>
              </p:nvPr>
            </p:nvGraphicFramePr>
            <p:xfrm>
              <a:off x="7771395" y="1718174"/>
              <a:ext cx="3710609" cy="10598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08991">
                      <a:extLst>
                        <a:ext uri="{9D8B030D-6E8A-4147-A177-3AD203B41FA5}">
                          <a16:colId xmlns:a16="http://schemas.microsoft.com/office/drawing/2014/main" val="46969292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1574546063"/>
                        </a:ext>
                      </a:extLst>
                    </a:gridCol>
                    <a:gridCol w="1630018">
                      <a:extLst>
                        <a:ext uri="{9D8B030D-6E8A-4147-A177-3AD203B41FA5}">
                          <a16:colId xmlns:a16="http://schemas.microsoft.com/office/drawing/2014/main" val="63667562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zh-CN" sz="105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sz="105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sz="1050" i="1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0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050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05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sz="105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sz="1050" i="1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0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050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sz="1050" kern="100">
                              <a:effectLst/>
                            </a:rPr>
                            <a:t> Table</a:t>
                          </a:r>
                          <a:endParaRPr lang="zh-CN" sz="1050" kern="100">
                            <a:effectLst/>
                            <a:latin typeface="DengXian" panose="02010600030101010101" pitchFamily="2" charset="-122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⊕</m:t>
                                    </m:r>
                                  </m:e>
                                  <m:sub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050" kern="100" dirty="0">
                            <a:effectLst/>
                            <a:latin typeface="DengXian" panose="02010600030101010101" pitchFamily="2" charset="-122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kern="100">
                                    <a:effectLst/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⊕</m:t>
                                        </m:r>
                                      </m:e>
                                      <m: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sz="1050" kern="100" dirty="0">
                            <a:effectLst/>
                            <a:latin typeface="DengXian" panose="02010600030101010101" pitchFamily="2" charset="-122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505438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⊕</m:t>
                                    </m:r>
                                  </m:e>
                                  <m:sub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sz="1050" kern="100">
                                    <a:effectLst/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⊕</m:t>
                                    </m:r>
                                  </m:e>
                                  <m:sub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050" kern="100">
                            <a:effectLst/>
                            <a:latin typeface="DengXian" panose="02010600030101010101" pitchFamily="2" charset="-122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sz="1050" kern="100">
                            <a:effectLst/>
                            <a:latin typeface="DengXian" panose="02010600030101010101" pitchFamily="2" charset="-122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zh-CN" sz="1050" kern="100">
                            <a:effectLst/>
                            <a:latin typeface="DengXian" panose="02010600030101010101" pitchFamily="2" charset="-122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620675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⊕</m:t>
                                    </m:r>
                                  </m:e>
                                  <m:sub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05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⊕</m:t>
                                    </m:r>
                                  </m:e>
                                  <m:sub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050" kern="100">
                            <a:effectLst/>
                            <a:latin typeface="DengXian" panose="02010600030101010101" pitchFamily="2" charset="-122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zh-CN" sz="1050" kern="100">
                            <a:effectLst/>
                            <a:latin typeface="DengXian" panose="02010600030101010101" pitchFamily="2" charset="-122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zh-CN" sz="1050" kern="100" dirty="0">
                            <a:effectLst/>
                            <a:latin typeface="DengXian" panose="02010600030101010101" pitchFamily="2" charset="-122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122851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29" name="Table 1028">
                <a:extLst>
                  <a:ext uri="{FF2B5EF4-FFF2-40B4-BE49-F238E27FC236}">
                    <a16:creationId xmlns:a16="http://schemas.microsoft.com/office/drawing/2014/main" id="{80BF865E-A479-D632-4F8C-EE88761F9B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6896636"/>
                  </p:ext>
                </p:extLst>
              </p:nvPr>
            </p:nvGraphicFramePr>
            <p:xfrm>
              <a:off x="7771395" y="1718174"/>
              <a:ext cx="3710609" cy="10598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08991">
                      <a:extLst>
                        <a:ext uri="{9D8B030D-6E8A-4147-A177-3AD203B41FA5}">
                          <a16:colId xmlns:a16="http://schemas.microsoft.com/office/drawing/2014/main" val="46969292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1574546063"/>
                        </a:ext>
                      </a:extLst>
                    </a:gridCol>
                    <a:gridCol w="1630018">
                      <a:extLst>
                        <a:ext uri="{9D8B030D-6E8A-4147-A177-3AD203B41FA5}">
                          <a16:colId xmlns:a16="http://schemas.microsoft.com/office/drawing/2014/main" val="636675628"/>
                        </a:ext>
                      </a:extLst>
                    </a:gridCol>
                  </a:tblGrid>
                  <a:tr h="34067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16"/>
                          <a:stretch>
                            <a:fillRect l="-855" t="-7143" r="-424786" b="-2160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16"/>
                          <a:stretch>
                            <a:fillRect l="-52444" t="-7143" r="-120889" b="-2160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16"/>
                          <a:stretch>
                            <a:fillRect l="-127985" t="-7143" r="-1493" b="-2160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0543838"/>
                      </a:ext>
                    </a:extLst>
                  </a:tr>
                  <a:tr h="3596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16"/>
                          <a:stretch>
                            <a:fillRect l="-855" t="-100000" r="-424786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16"/>
                          <a:stretch>
                            <a:fillRect l="-52444" t="-100000" r="-120889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16"/>
                          <a:stretch>
                            <a:fillRect l="-127985" t="-100000" r="-1493" b="-10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067582"/>
                      </a:ext>
                    </a:extLst>
                  </a:tr>
                  <a:tr h="3596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16"/>
                          <a:stretch>
                            <a:fillRect l="-855" t="-203390" r="-424786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16"/>
                          <a:stretch>
                            <a:fillRect l="-52444" t="-203390" r="-120889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16"/>
                          <a:stretch>
                            <a:fillRect l="-127985" t="-203390" r="-1493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22851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30" name="TextBox 1029">
            <a:extLst>
              <a:ext uri="{FF2B5EF4-FFF2-40B4-BE49-F238E27FC236}">
                <a16:creationId xmlns:a16="http://schemas.microsoft.com/office/drawing/2014/main" id="{C595994B-21D8-081D-A5F0-45A83DF1F9C9}"/>
              </a:ext>
            </a:extLst>
          </p:cNvPr>
          <p:cNvSpPr txBox="1"/>
          <p:nvPr/>
        </p:nvSpPr>
        <p:spPr>
          <a:xfrm>
            <a:off x="8715178" y="1435824"/>
            <a:ext cx="1823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accent1"/>
                </a:solidFill>
              </a:rPr>
              <a:t>Our Mechanism Design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1" name="TextBox 1030">
                <a:extLst>
                  <a:ext uri="{FF2B5EF4-FFF2-40B4-BE49-F238E27FC236}">
                    <a16:creationId xmlns:a16="http://schemas.microsoft.com/office/drawing/2014/main" id="{99634BA3-707C-8E33-1CDD-EE677EA3C22D}"/>
                  </a:ext>
                </a:extLst>
              </p:cNvPr>
              <p:cNvSpPr txBox="1"/>
              <p:nvPr/>
            </p:nvSpPr>
            <p:spPr>
              <a:xfrm>
                <a:off x="2384215" y="5757195"/>
                <a:ext cx="3389312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solidFill>
                      <a:schemeClr val="accent1"/>
                    </a:solidFill>
                  </a:rPr>
                  <a:t>Assumption: </a:t>
                </a:r>
                <a14:m>
                  <m:oMath xmlns:m="http://schemas.openxmlformats.org/officeDocument/2006/math">
                    <m:r>
                      <a:rPr lang="en-US" altLang="zh-CN" sz="1600" i="1" kern="100" smtClean="0">
                        <a:solidFill>
                          <a:schemeClr val="accent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1600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600" i="1" kern="100">
                                <a:solidFill>
                                  <a:schemeClr val="accent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 kern="100">
                                <a:solidFill>
                                  <a:schemeClr val="accent1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1600" i="1" kern="100">
                                <a:solidFill>
                                  <a:schemeClr val="accent1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1600" i="1" kern="100">
                                <a:solidFill>
                                  <a:schemeClr val="accent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 kern="100">
                                <a:solidFill>
                                  <a:schemeClr val="accent1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1600" i="1" kern="100">
                                <a:solidFill>
                                  <a:schemeClr val="accent1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zh-CN" altLang="zh-CN" sz="1600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600" i="1" kern="100">
                                <a:solidFill>
                                  <a:schemeClr val="accent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 kern="100">
                                <a:solidFill>
                                  <a:schemeClr val="accent1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600" i="1" kern="100">
                                <a:solidFill>
                                  <a:schemeClr val="accent1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1600" i="1" kern="100">
                                <a:solidFill>
                                  <a:schemeClr val="accent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 kern="100">
                                <a:solidFill>
                                  <a:schemeClr val="accent1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600" i="1" kern="100">
                                <a:solidFill>
                                  <a:schemeClr val="accent1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600" i="1" kern="100">
                        <a:solidFill>
                          <a:schemeClr val="accent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endParaRPr lang="zh-CN" altLang="zh-CN" sz="1600" kern="100" dirty="0">
                  <a:solidFill>
                    <a:schemeClr val="accent1"/>
                  </a:solidFill>
                  <a:effectLst/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031" name="TextBox 1030">
                <a:extLst>
                  <a:ext uri="{FF2B5EF4-FFF2-40B4-BE49-F238E27FC236}">
                    <a16:creationId xmlns:a16="http://schemas.microsoft.com/office/drawing/2014/main" id="{99634BA3-707C-8E33-1CDD-EE677EA3C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215" y="5757195"/>
                <a:ext cx="3389312" cy="615553"/>
              </a:xfrm>
              <a:prstGeom prst="rect">
                <a:avLst/>
              </a:prstGeom>
              <a:blipFill>
                <a:blip r:embed="rId17"/>
                <a:stretch>
                  <a:fillRect l="-360" t="-39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65C133-9A18-0E77-0F5E-0928FCA17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1B149-562E-64C8-C53A-9EB978051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8219" y="6007623"/>
            <a:ext cx="120327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5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550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 animBg="1"/>
      <p:bldP spid="31" grpId="0" animBg="1"/>
      <p:bldP spid="32" grpId="0" animBg="1"/>
      <p:bldP spid="62" grpId="0"/>
      <p:bldP spid="63" grpId="0"/>
      <p:bldP spid="1027" grpId="0" animBg="1"/>
      <p:bldP spid="1030" grpId="0"/>
      <p:bldP spid="10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285" y="2329543"/>
            <a:ext cx="9923523" cy="3391101"/>
          </a:xfrm>
        </p:spPr>
        <p:txBody>
          <a:bodyPr anchor="t"/>
          <a:lstStyle/>
          <a:p>
            <a:r>
              <a:rPr lang="en-US" altLang="zh-CN" dirty="0"/>
              <a:t>Background</a:t>
            </a:r>
          </a:p>
          <a:p>
            <a:r>
              <a:rPr lang="en-US" altLang="zh-CN" dirty="0"/>
              <a:t>A Mechanism</a:t>
            </a:r>
            <a:r>
              <a:rPr lang="zh-CN" altLang="en-US" dirty="0"/>
              <a:t> </a:t>
            </a:r>
            <a:r>
              <a:rPr lang="en-US" altLang="zh-CN" dirty="0"/>
              <a:t>for Two Agents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An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Extension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to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Multiple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Agents</a:t>
            </a:r>
          </a:p>
          <a:p>
            <a:r>
              <a:rPr lang="en-US" altLang="zh-CN" dirty="0"/>
              <a:t>Simulations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285" y="865998"/>
            <a:ext cx="9923522" cy="1351451"/>
          </a:xfrm>
        </p:spPr>
        <p:txBody>
          <a:bodyPr/>
          <a:lstStyle/>
          <a:p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E160D-D535-888E-9815-CF252E9C7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B303D-9009-A44C-CA90-5A68F3680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0444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7249299-B2E1-164B-9D28-7833904F88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5307" y="1773125"/>
                <a:ext cx="10521387" cy="231198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2400" dirty="0"/>
                  <a:t>Mechanism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ℳ</m:t>
                        </m:r>
                      </m:e>
                      <m:sub>
                        <m:r>
                          <a:rPr lang="en-US" altLang="zh-CN" sz="2400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400" dirty="0"/>
                  <a:t>:</a:t>
                </a:r>
              </a:p>
              <a:p>
                <a:r>
                  <a:rPr lang="en-US" altLang="zh-CN" dirty="0"/>
                  <a:t>Step 1: get noisy/biased estimation of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𝐘</m:t>
                    </m:r>
                  </m:oMath>
                </a14:m>
                <a:r>
                  <a:rPr lang="en-US" altLang="zh-CN" dirty="0"/>
                  <a:t> for true item values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Step 2: for each pair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 of agents in pair set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altLang="zh-CN" dirty="0"/>
                  <a:t>, perform mechanism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and get estimations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 for those two agents, respectively.</a:t>
                </a:r>
              </a:p>
              <a:p>
                <a:r>
                  <a:rPr lang="en-US" altLang="zh-CN" dirty="0"/>
                  <a:t>Step 3: return estimated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=1,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CN" altLang="zh-CN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num>
                      <m:den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altLang="zh-CN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 is set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altLang="zh-CN" dirty="0"/>
                  <a:t> 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 is not in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zh-CN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7249299-B2E1-164B-9D28-7833904F88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5307" y="1773125"/>
                <a:ext cx="10521387" cy="2311989"/>
              </a:xfrm>
              <a:blipFill>
                <a:blip r:embed="rId2"/>
                <a:stretch>
                  <a:fillRect l="-869" t="-2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标题 2">
                <a:extLst>
                  <a:ext uri="{FF2B5EF4-FFF2-40B4-BE49-F238E27FC236}">
                    <a16:creationId xmlns:a16="http://schemas.microsoft.com/office/drawing/2014/main" id="{E4CCBE66-029B-1A42-8B93-5DED4C28F3F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5306" y="593424"/>
                <a:ext cx="10521388" cy="1015200"/>
              </a:xfrm>
            </p:spPr>
            <p:txBody>
              <a:bodyPr/>
              <a:lstStyle/>
              <a:p>
                <a:r>
                  <a:rPr lang="en-US" altLang="zh-CN" dirty="0"/>
                  <a:t>Mechanism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ℳ</m:t>
                        </m:r>
                      </m:e>
                      <m:sub>
                        <m:r>
                          <a:rPr lang="en-US" altLang="zh-CN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 for Multiple (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) Agents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标题 2">
                <a:extLst>
                  <a:ext uri="{FF2B5EF4-FFF2-40B4-BE49-F238E27FC236}">
                    <a16:creationId xmlns:a16="http://schemas.microsoft.com/office/drawing/2014/main" id="{E4CCBE66-029B-1A42-8B93-5DED4C28F3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5306" y="593424"/>
                <a:ext cx="10521388" cy="1015200"/>
              </a:xfrm>
              <a:blipFill>
                <a:blip r:embed="rId3"/>
                <a:stretch>
                  <a:fillRect l="-1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6F39A6-85A8-9FBA-6CA5-F227AC146104}"/>
                  </a:ext>
                </a:extLst>
              </p:cNvPr>
              <p:cNvSpPr txBox="1"/>
              <p:nvPr/>
            </p:nvSpPr>
            <p:spPr>
              <a:xfrm>
                <a:off x="2687843" y="5638639"/>
                <a:ext cx="6820175" cy="6463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accent1"/>
                    </a:solidFill>
                  </a:rPr>
                  <a:t>According to linearity of expectation, one could verify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 smtClean="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ℳ</m:t>
                        </m:r>
                      </m:e>
                      <m:sub>
                        <m:r>
                          <a:rPr lang="en-US" altLang="zh-CN" sz="1800" b="0" i="1" kern="100" smtClean="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1"/>
                    </a:solidFill>
                  </a:rPr>
                  <a:t> still satisfies </a:t>
                </a:r>
                <a:r>
                  <a:rPr lang="en-US" altLang="zh-CN" b="1" dirty="0">
                    <a:solidFill>
                      <a:schemeClr val="accent1"/>
                    </a:solidFill>
                  </a:rPr>
                  <a:t>incentive-compatible</a:t>
                </a:r>
                <a:r>
                  <a:rPr lang="en-US" altLang="zh-CN" dirty="0">
                    <a:solidFill>
                      <a:schemeClr val="accent1"/>
                    </a:solidFill>
                  </a:rPr>
                  <a:t> and </a:t>
                </a:r>
                <a:r>
                  <a:rPr lang="en-US" altLang="zh-CN" b="1" dirty="0">
                    <a:solidFill>
                      <a:schemeClr val="accent1"/>
                    </a:solidFill>
                  </a:rPr>
                  <a:t>estimation improvement</a:t>
                </a:r>
                <a:r>
                  <a:rPr lang="en-US" altLang="zh-CN" dirty="0">
                    <a:solidFill>
                      <a:schemeClr val="accent1"/>
                    </a:solidFill>
                  </a:rPr>
                  <a:t>. </a:t>
                </a:r>
                <a:endParaRPr lang="zh-CN" alt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6F39A6-85A8-9FBA-6CA5-F227AC146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843" y="5638639"/>
                <a:ext cx="6820175" cy="646331"/>
              </a:xfrm>
              <a:prstGeom prst="rect">
                <a:avLst/>
              </a:prstGeom>
              <a:blipFill>
                <a:blip r:embed="rId4"/>
                <a:stretch>
                  <a:fillRect l="-714" t="-4630" b="-12963"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92AA3D6-72DA-4EC0-0CB4-783A41654C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3459" y="4050557"/>
            <a:ext cx="333441" cy="3158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35BEF6-C98B-DB0C-5721-28ECBCE51A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9278" y="5185044"/>
            <a:ext cx="321804" cy="3578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1969E1-3C8A-A93C-BA8F-BC46820639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5010" y="5185044"/>
            <a:ext cx="321804" cy="3578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1A225B-91FF-0F74-BAE6-F14CCE515A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7144" y="5185043"/>
            <a:ext cx="321804" cy="3578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B2A25F-ACA1-B265-7B44-98B79FCBDA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1412" y="5185044"/>
            <a:ext cx="321804" cy="3578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2185A32-BF4E-3327-BE5C-421EAB7248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2432" y="5185042"/>
            <a:ext cx="321804" cy="35780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B8FF199-7D59-718D-0CFA-2FF815D36568}"/>
              </a:ext>
            </a:extLst>
          </p:cNvPr>
          <p:cNvCxnSpPr>
            <a:stCxn id="11" idx="0"/>
            <a:endCxn id="8" idx="2"/>
          </p:cNvCxnSpPr>
          <p:nvPr/>
        </p:nvCxnSpPr>
        <p:spPr>
          <a:xfrm flipV="1">
            <a:off x="2685912" y="4366372"/>
            <a:ext cx="3404268" cy="818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D295B7C-5E40-EC0E-829F-7EA4A411D328}"/>
              </a:ext>
            </a:extLst>
          </p:cNvPr>
          <p:cNvCxnSpPr>
            <a:stCxn id="12" idx="0"/>
            <a:endCxn id="8" idx="2"/>
          </p:cNvCxnSpPr>
          <p:nvPr/>
        </p:nvCxnSpPr>
        <p:spPr>
          <a:xfrm flipV="1">
            <a:off x="4388046" y="4366372"/>
            <a:ext cx="1702134" cy="818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96FC62A-C6F8-838F-C4F1-D183F6D09700}"/>
              </a:ext>
            </a:extLst>
          </p:cNvPr>
          <p:cNvCxnSpPr>
            <a:stCxn id="10" idx="0"/>
            <a:endCxn id="8" idx="2"/>
          </p:cNvCxnSpPr>
          <p:nvPr/>
        </p:nvCxnSpPr>
        <p:spPr>
          <a:xfrm flipV="1">
            <a:off x="6090180" y="4366372"/>
            <a:ext cx="0" cy="818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4C3EF3F-1CF6-B410-ECE7-46CC6A95AA5B}"/>
              </a:ext>
            </a:extLst>
          </p:cNvPr>
          <p:cNvCxnSpPr>
            <a:stCxn id="13" idx="0"/>
            <a:endCxn id="8" idx="2"/>
          </p:cNvCxnSpPr>
          <p:nvPr/>
        </p:nvCxnSpPr>
        <p:spPr>
          <a:xfrm flipH="1" flipV="1">
            <a:off x="6090180" y="4366372"/>
            <a:ext cx="1702134" cy="818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EE8855E-727B-C65E-1BFC-E37B678B066C}"/>
              </a:ext>
            </a:extLst>
          </p:cNvPr>
          <p:cNvCxnSpPr>
            <a:stCxn id="14" idx="0"/>
            <a:endCxn id="8" idx="2"/>
          </p:cNvCxnSpPr>
          <p:nvPr/>
        </p:nvCxnSpPr>
        <p:spPr>
          <a:xfrm flipH="1" flipV="1">
            <a:off x="6090180" y="4366372"/>
            <a:ext cx="3403154" cy="818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A5F67B7-888F-4180-179F-4EC87F78077E}"/>
                  </a:ext>
                </a:extLst>
              </p:cNvPr>
              <p:cNvSpPr txBox="1"/>
              <p:nvPr/>
            </p:nvSpPr>
            <p:spPr>
              <a:xfrm>
                <a:off x="2439525" y="4608320"/>
                <a:ext cx="7400214" cy="376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acc>
                          <m:accPr>
                            <m:chr m:val="̂"/>
                            <m:ctrlPr>
                              <a:rPr lang="zh-CN" altLang="zh-CN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=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zh-CN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i="1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zh-CN" sz="12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200" i="1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zh-CN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zh-CN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200" i="1" dirty="0">
                    <a:latin typeface="Cambria Math" panose="02040503050406030204" pitchFamily="18" charset="0"/>
                  </a:rPr>
                  <a:t>  </a:t>
                </a:r>
                <a:r>
                  <a:rPr lang="en-US" altLang="zh-CN" sz="1200" dirty="0">
                    <a:latin typeface="Cambria Math" panose="02040503050406030204" pitchFamily="18" charset="0"/>
                  </a:rPr>
                  <a:t>+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zh-CN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200" i="1" dirty="0">
                    <a:latin typeface="Cambria Math" panose="02040503050406030204" pitchFamily="18" charset="0"/>
                  </a:rPr>
                  <a:t>  </a:t>
                </a:r>
                <a:r>
                  <a:rPr lang="en-US" altLang="zh-CN" sz="1200" dirty="0">
                    <a:latin typeface="Cambria Math" panose="02040503050406030204" pitchFamily="18" charset="0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1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zh-CN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2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200" i="1" dirty="0">
                    <a:latin typeface="Cambria Math" panose="02040503050406030204" pitchFamily="18" charset="0"/>
                  </a:rPr>
                  <a:t>   </a:t>
                </a:r>
                <a:r>
                  <a:rPr lang="en-US" altLang="zh-CN" sz="1200" dirty="0">
                    <a:latin typeface="Cambria Math" panose="02040503050406030204" pitchFamily="18" charset="0"/>
                  </a:rPr>
                  <a:t>+  </a:t>
                </a:r>
                <a:r>
                  <a:rPr lang="en-US" altLang="zh-CN" sz="1200" i="1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1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zh-CN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2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200" i="1" dirty="0">
                    <a:latin typeface="Cambria Math" panose="02040503050406030204" pitchFamily="18" charset="0"/>
                  </a:rPr>
                  <a:t>  </a:t>
                </a:r>
                <a:endParaRPr lang="zh-CN" altLang="en-US" sz="1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A5F67B7-888F-4180-179F-4EC87F780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525" y="4608320"/>
                <a:ext cx="7400214" cy="376770"/>
              </a:xfrm>
              <a:prstGeom prst="rect">
                <a:avLst/>
              </a:prstGeom>
              <a:blipFill>
                <a:blip r:embed="rId7"/>
                <a:stretch>
                  <a:fillRect t="-8065" b="-24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F843F-8781-5124-C5B4-AB24F95A4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17796-29B4-C9A8-6857-6344BBDD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663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7249299-B2E1-164B-9D28-7833904F88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3377" y="2180498"/>
                <a:ext cx="10521387" cy="3678303"/>
              </a:xfrm>
            </p:spPr>
            <p:txBody>
              <a:bodyPr/>
              <a:lstStyle/>
              <a:p>
                <a:r>
                  <a:rPr lang="en-US" altLang="zh-CN" dirty="0"/>
                  <a:t>We use the identity utility function (or linear utility function) previously. I also prove that with an assumption on </a:t>
                </a:r>
                <a14:m>
                  <m:oMath xmlns:m="http://schemas.openxmlformats.org/officeDocument/2006/math">
                    <m:r>
                      <a:rPr lang="en-US" altLang="zh-CN" sz="1800" b="1" i="1" kern="10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𝒀</m:t>
                    </m:r>
                  </m:oMath>
                </a14:m>
                <a:r>
                  <a:rPr lang="en-US" altLang="zh-CN" dirty="0"/>
                  <a:t>, our mechanisms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 still guarantee </a:t>
                </a:r>
                <a:r>
                  <a:rPr lang="en-US" altLang="zh-CN" b="1" dirty="0"/>
                  <a:t>incentive-compatible</a:t>
                </a:r>
                <a:r>
                  <a:rPr lang="en-US" altLang="zh-CN" dirty="0"/>
                  <a:t> when agents have </a:t>
                </a:r>
                <a:r>
                  <a:rPr lang="en-US" altLang="zh-CN" b="1" dirty="0"/>
                  <a:t>bilipschitz utility functions</a:t>
                </a:r>
                <a:r>
                  <a:rPr lang="en-US" altLang="zh-CN" dirty="0"/>
                  <a:t>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κ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zh-CN" altLang="zh-CN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zh-CN" altLang="zh-CN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κ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By adding a 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kern="10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ϵ</m:t>
                    </m:r>
                  </m:oMath>
                </a14:m>
                <a:r>
                  <a:rPr lang="en-US" altLang="zh-CN" dirty="0"/>
                  <a:t> smaller than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altLang="zh-CN" dirty="0"/>
                  <a:t>, new mechanisms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CN" dirty="0"/>
                  <a:t> support strictly </a:t>
                </a:r>
                <a:r>
                  <a:rPr lang="en-US" altLang="zh-CN" b="1" dirty="0"/>
                  <a:t>incentive-compatible </a:t>
                </a:r>
                <a:r>
                  <a:rPr lang="en-US" altLang="zh-CN" dirty="0"/>
                  <a:t>for multi-agent setting while each agent has </a:t>
                </a:r>
                <a:r>
                  <a:rPr lang="en-US" altLang="zh-CN" b="1" dirty="0"/>
                  <a:t>multiple items</a:t>
                </a:r>
                <a:r>
                  <a:rPr lang="en-US" altLang="zh-CN" dirty="0"/>
                  <a:t>.</a:t>
                </a:r>
                <a:endParaRPr lang="zh-CN" altLang="zh-CN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7249299-B2E1-164B-9D28-7833904F88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3377" y="2180498"/>
                <a:ext cx="10521387" cy="3678303"/>
              </a:xfrm>
              <a:blipFill>
                <a:blip r:embed="rId2"/>
                <a:stretch>
                  <a:fillRect l="-232" t="-9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E4CCBE66-029B-1A42-8B93-5DED4C28F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06" y="593424"/>
            <a:ext cx="10521388" cy="1015200"/>
          </a:xfrm>
        </p:spPr>
        <p:txBody>
          <a:bodyPr/>
          <a:lstStyle/>
          <a:p>
            <a:r>
              <a:rPr lang="en-US" altLang="zh-CN" dirty="0"/>
              <a:t>Several Extensions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77A007-4114-7B02-866C-F011C662C1FA}"/>
                  </a:ext>
                </a:extLst>
              </p:cNvPr>
              <p:cNvSpPr txBox="1"/>
              <p:nvPr/>
            </p:nvSpPr>
            <p:spPr>
              <a:xfrm>
                <a:off x="4819021" y="4379176"/>
                <a:ext cx="2550094" cy="313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sz="1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altLang="zh-CN" sz="1400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altLang="zh-CN" sz="1400" dirty="0">
                    <a:solidFill>
                      <a:schemeClr val="accent1"/>
                    </a:solidFill>
                  </a:rPr>
                  <a:t>Design</a:t>
                </a:r>
                <a:r>
                  <a:rPr lang="en-US" altLang="zh-CN" sz="1400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altLang="zh-CN" sz="1400" dirty="0">
                    <a:solidFill>
                      <a:schemeClr val="accent1"/>
                    </a:solidFill>
                  </a:rPr>
                  <a:t>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1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CN" altLang="en-US" sz="1400" dirty="0">
                    <a:solidFill>
                      <a:schemeClr val="accent1"/>
                    </a:solidFill>
                  </a:rPr>
                  <a:t> </a:t>
                </a:r>
                <a:r>
                  <a:rPr lang="en-US" altLang="zh-CN" sz="1400" dirty="0">
                    <a:solidFill>
                      <a:schemeClr val="accent1"/>
                    </a:solidFill>
                  </a:rPr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1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CN" sz="1400" dirty="0">
                    <a:solidFill>
                      <a:schemeClr val="accent1"/>
                    </a:solidFill>
                  </a:rPr>
                  <a:t> </a:t>
                </a:r>
                <a:endParaRPr lang="zh-CN" altLang="zh-CN" sz="1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77A007-4114-7B02-866C-F011C662C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021" y="4379176"/>
                <a:ext cx="2550094" cy="313612"/>
              </a:xfrm>
              <a:prstGeom prst="rect">
                <a:avLst/>
              </a:prstGeom>
              <a:blipFill>
                <a:blip r:embed="rId3"/>
                <a:stretch>
                  <a:fillRect t="-1923" b="-1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84E9698-9A07-13CB-62EE-9BCD425E3C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9644182"/>
                  </p:ext>
                </p:extLst>
              </p:nvPr>
            </p:nvGraphicFramePr>
            <p:xfrm>
              <a:off x="1224342" y="4755946"/>
              <a:ext cx="9739453" cy="89986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998815">
                      <a:extLst>
                        <a:ext uri="{9D8B030D-6E8A-4147-A177-3AD203B41FA5}">
                          <a16:colId xmlns:a16="http://schemas.microsoft.com/office/drawing/2014/main" val="1200660840"/>
                        </a:ext>
                      </a:extLst>
                    </a:gridCol>
                    <a:gridCol w="1748721">
                      <a:extLst>
                        <a:ext uri="{9D8B030D-6E8A-4147-A177-3AD203B41FA5}">
                          <a16:colId xmlns:a16="http://schemas.microsoft.com/office/drawing/2014/main" val="3108955298"/>
                        </a:ext>
                      </a:extLst>
                    </a:gridCol>
                    <a:gridCol w="6991917">
                      <a:extLst>
                        <a:ext uri="{9D8B030D-6E8A-4147-A177-3AD203B41FA5}">
                          <a16:colId xmlns:a16="http://schemas.microsoft.com/office/drawing/2014/main" val="394235947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zh-CN" sz="105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sz="105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sz="1050" i="1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0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050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05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sz="105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sz="1050" i="1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0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050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sz="1050" kern="100">
                              <a:effectLst/>
                            </a:rPr>
                            <a:t> Table</a:t>
                          </a:r>
                          <a:endParaRPr lang="zh-CN" sz="1050" kern="100">
                            <a:effectLst/>
                            <a:latin typeface="DengXian" panose="02010600030101010101" pitchFamily="2" charset="-122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⊕</m:t>
                                    </m:r>
                                  </m:e>
                                  <m:sub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050" kern="100">
                            <a:effectLst/>
                            <a:latin typeface="DengXian" panose="02010600030101010101" pitchFamily="2" charset="-122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kern="100">
                                    <a:effectLst/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⊕</m:t>
                                        </m:r>
                                      </m:e>
                                      <m: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sz="1050" kern="100" dirty="0">
                            <a:effectLst/>
                            <a:latin typeface="DengXian" panose="02010600030101010101" pitchFamily="2" charset="-122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290068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⊕</m:t>
                                    </m:r>
                                  </m:e>
                                  <m:sub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sz="1050" kern="100">
                                    <a:effectLst/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⊕</m:t>
                                    </m:r>
                                  </m:e>
                                  <m:sub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050" kern="100">
                            <a:effectLst/>
                            <a:latin typeface="DengXian" panose="02010600030101010101" pitchFamily="2" charset="-122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sz="1050" kern="100">
                            <a:effectLst/>
                            <a:latin typeface="DengXian" panose="02010600030101010101" pitchFamily="2" charset="-122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zh-CN" sz="105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ϵ</m:t>
                                    </m:r>
                                    <m:f>
                                      <m:f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𝕀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⊕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= &gt;</m:t>
                                        </m:r>
                                      </m:e>
                                    </m:d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ϵ</m:t>
                                    </m:r>
                                    <m:f>
                                      <m:f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𝕀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⊕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= &lt;</m:t>
                                        </m:r>
                                      </m:e>
                                    </m:d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altLang="zh-CN" sz="1050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1050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ϵ</m:t>
                                    </m:r>
                                    <m:f>
                                      <m:fPr>
                                        <m:ctrlPr>
                                          <a:rPr lang="zh-CN" altLang="en-US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zh-CN" altLang="en-US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050" b="0" i="0" kern="100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en-US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050" b="0" i="0" kern="100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zh-CN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altLang="zh-CN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𝕀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⊕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050" b="0" i="0" kern="100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= &gt;</m:t>
                                        </m:r>
                                      </m:e>
                                    </m:d>
                                    <m:r>
                                      <a:rPr lang="en-US" altLang="zh-CN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ϵ</m:t>
                                    </m:r>
                                    <m:f>
                                      <m:fPr>
                                        <m:ctrlPr>
                                          <a:rPr lang="zh-CN" altLang="en-US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zh-CN" altLang="en-US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050" b="0" i="0" kern="100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en-US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050" b="0" i="0" kern="100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zh-CN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altLang="zh-CN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𝕀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⊕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050" b="0" i="0" kern="100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= &lt;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zh-CN" sz="1050" kern="100" dirty="0">
                            <a:effectLst/>
                            <a:latin typeface="DengXian" panose="02010600030101010101" pitchFamily="2" charset="-122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006608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⊕</m:t>
                                    </m:r>
                                  </m:e>
                                  <m:sub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05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⊕</m:t>
                                    </m:r>
                                  </m:e>
                                  <m:sub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050" kern="100">
                            <a:effectLst/>
                            <a:latin typeface="DengXian" panose="02010600030101010101" pitchFamily="2" charset="-122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zh-CN" sz="1050" kern="100">
                            <a:effectLst/>
                            <a:latin typeface="DengXian" panose="02010600030101010101" pitchFamily="2" charset="-122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zh-CN" sz="105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105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zh-CN" sz="105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zh-CN" sz="105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zh-CN" sz="1050" kern="100" dirty="0">
                            <a:effectLst/>
                            <a:latin typeface="DengXian" panose="02010600030101010101" pitchFamily="2" charset="-122"/>
                            <a:ea typeface="DengXia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773611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84E9698-9A07-13CB-62EE-9BCD425E3C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9644182"/>
                  </p:ext>
                </p:extLst>
              </p:nvPr>
            </p:nvGraphicFramePr>
            <p:xfrm>
              <a:off x="1224342" y="4755946"/>
              <a:ext cx="9739453" cy="89986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998815">
                      <a:extLst>
                        <a:ext uri="{9D8B030D-6E8A-4147-A177-3AD203B41FA5}">
                          <a16:colId xmlns:a16="http://schemas.microsoft.com/office/drawing/2014/main" val="1200660840"/>
                        </a:ext>
                      </a:extLst>
                    </a:gridCol>
                    <a:gridCol w="1748721">
                      <a:extLst>
                        <a:ext uri="{9D8B030D-6E8A-4147-A177-3AD203B41FA5}">
                          <a16:colId xmlns:a16="http://schemas.microsoft.com/office/drawing/2014/main" val="3108955298"/>
                        </a:ext>
                      </a:extLst>
                    </a:gridCol>
                    <a:gridCol w="6991917">
                      <a:extLst>
                        <a:ext uri="{9D8B030D-6E8A-4147-A177-3AD203B41FA5}">
                          <a16:colId xmlns:a16="http://schemas.microsoft.com/office/drawing/2014/main" val="3942359470"/>
                        </a:ext>
                      </a:extLst>
                    </a:gridCol>
                  </a:tblGrid>
                  <a:tr h="18065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610" t="-16667" r="-877439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57491" t="-16667" r="-401394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39373" t="-16667" r="-34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006827"/>
                      </a:ext>
                    </a:extLst>
                  </a:tr>
                  <a:tr h="3596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610" t="-59322" r="-877439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57491" t="-59322" r="-401394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39373" t="-59322" r="-348" b="-1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0660805"/>
                      </a:ext>
                    </a:extLst>
                  </a:tr>
                  <a:tr h="3596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610" t="-159322" r="-877439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57491" t="-159322" r="-401394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39373" t="-159322" r="-348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73611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95A6E2-4EC2-2FE4-9DA9-66D5BC68B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974AB-73FF-7472-B301-240DBC23F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1672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285" y="2329543"/>
            <a:ext cx="9923523" cy="3391101"/>
          </a:xfrm>
        </p:spPr>
        <p:txBody>
          <a:bodyPr anchor="t"/>
          <a:lstStyle/>
          <a:p>
            <a:r>
              <a:rPr lang="en-US" altLang="zh-CN" dirty="0"/>
              <a:t>Background</a:t>
            </a:r>
          </a:p>
          <a:p>
            <a:r>
              <a:rPr lang="en-US" altLang="zh-CN" dirty="0"/>
              <a:t>A Mechanism</a:t>
            </a:r>
            <a:r>
              <a:rPr lang="zh-CN" altLang="en-US" dirty="0"/>
              <a:t> </a:t>
            </a:r>
            <a:r>
              <a:rPr lang="en-US" altLang="zh-CN" dirty="0"/>
              <a:t>for Two Agents</a:t>
            </a:r>
          </a:p>
          <a:p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Extension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Agents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Simulations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285" y="865998"/>
            <a:ext cx="9923522" cy="1351451"/>
          </a:xfrm>
        </p:spPr>
        <p:txBody>
          <a:bodyPr/>
          <a:lstStyle/>
          <a:p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1B56D-E51F-0339-B57F-EE31B7B6C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F468DF-3094-BBC6-86A5-067976658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7390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07C298-BBDA-2946-B9D9-D457CECF1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463" y="4755437"/>
            <a:ext cx="10333301" cy="653148"/>
          </a:xfrm>
        </p:spPr>
        <p:txBody>
          <a:bodyPr/>
          <a:lstStyle/>
          <a:p>
            <a:r>
              <a:rPr lang="en-US" altLang="zh-CN" dirty="0"/>
              <a:t>Simulations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占位符 3">
                <a:extLst>
                  <a:ext uri="{FF2B5EF4-FFF2-40B4-BE49-F238E27FC236}">
                    <a16:creationId xmlns:a16="http://schemas.microsoft.com/office/drawing/2014/main" id="{B8849B47-9C38-BF44-922D-DEF9C6B9781A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021463" y="5315843"/>
                <a:ext cx="10333301" cy="69962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We run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 for all pairs of agents on random item values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altLang="zh-CN" dirty="0"/>
                  <a:t> and standard distribution noises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𝛜</m:t>
                    </m:r>
                  </m:oMath>
                </a14:m>
                <a:r>
                  <a:rPr lang="en-US" altLang="zh-CN" dirty="0"/>
                  <a:t> such that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𝛜</m:t>
                    </m:r>
                  </m:oMath>
                </a14:m>
                <a:r>
                  <a:rPr lang="en-US" altLang="zh-CN" dirty="0"/>
                  <a:t>.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altLang="zh-CN" b="1" dirty="0"/>
                  <a:t> </a:t>
                </a:r>
                <a:r>
                  <a:rPr lang="en-US" altLang="zh-CN" dirty="0"/>
                  <a:t>generated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 achieves </a:t>
                </a:r>
                <a:r>
                  <a:rPr lang="en-US" altLang="zh-CN" b="1" dirty="0"/>
                  <a:t>8%-20% improvement</a:t>
                </a:r>
                <a:r>
                  <a:rPr lang="en-US" altLang="zh-CN" dirty="0"/>
                  <a:t> over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文本占位符 3">
                <a:extLst>
                  <a:ext uri="{FF2B5EF4-FFF2-40B4-BE49-F238E27FC236}">
                    <a16:creationId xmlns:a16="http://schemas.microsoft.com/office/drawing/2014/main" id="{B8849B47-9C38-BF44-922D-DEF9C6B978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021463" y="5315843"/>
                <a:ext cx="10333301" cy="699620"/>
              </a:xfrm>
              <a:blipFill>
                <a:blip r:embed="rId2"/>
                <a:stretch>
                  <a:fillRect l="-354" b="-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>
            <a:extLst>
              <a:ext uri="{FF2B5EF4-FFF2-40B4-BE49-F238E27FC236}">
                <a16:creationId xmlns:a16="http://schemas.microsoft.com/office/drawing/2014/main" id="{C32BD79D-392B-66AE-445F-DF8ADA4E6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2366963" y="842537"/>
            <a:ext cx="7458075" cy="408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D48496-DB10-D03D-8253-9DAAB6BCCF50}"/>
                  </a:ext>
                </a:extLst>
              </p:cNvPr>
              <p:cNvSpPr txBox="1"/>
              <p:nvPr/>
            </p:nvSpPr>
            <p:spPr>
              <a:xfrm>
                <a:off x="7686261" y="937204"/>
                <a:ext cx="2076554" cy="98007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1800" i="1" kern="100" smtClean="0">
                              <a:solidFill>
                                <a:srgbClr val="FF33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endChr m:val=""/>
                              <m:ctrlPr>
                                <a:rPr lang="zh-CN" altLang="zh-CN" sz="1800" i="1" kern="100">
                                  <a:solidFill>
                                    <a:srgbClr val="FF33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lit/>
                                </m:rPr>
                                <a:rPr lang="en-US" altLang="zh-CN" sz="1800" i="1" kern="100">
                                  <a:solidFill>
                                    <a:srgbClr val="FF33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acc>
                                <m:accPr>
                                  <m:chr m:val="̂"/>
                                  <m:ctrlPr>
                                    <a:rPr lang="zh-CN" altLang="zh-CN" sz="1800" b="1" i="1" kern="100">
                                      <a:solidFill>
                                        <a:srgbClr val="FF33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800" b="1" i="1" kern="100">
                                      <a:solidFill>
                                        <a:srgbClr val="FF33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𝒀</m:t>
                                  </m:r>
                                </m:e>
                              </m:acc>
                              <m:r>
                                <a:rPr lang="en-US" altLang="zh-CN" sz="1800" i="1" kern="100">
                                  <a:solidFill>
                                    <a:srgbClr val="FF33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1800" b="1" i="1" kern="100">
                                  <a:solidFill>
                                    <a:srgbClr val="FF33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</m:d>
                          <m:sSub>
                            <m:sSubPr>
                              <m:ctrlPr>
                                <a:rPr lang="zh-CN" altLang="zh-CN" sz="1800" i="1" kern="100">
                                  <a:solidFill>
                                    <a:srgbClr val="FF33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lit/>
                                </m:rPr>
                                <a:rPr lang="en-US" altLang="zh-CN" sz="1800" i="1" kern="100">
                                  <a:solidFill>
                                    <a:srgbClr val="FF33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solidFill>
                                    <a:srgbClr val="FF33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"/>
                              <m:endChr m:val=""/>
                              <m:ctrlPr>
                                <a:rPr lang="zh-CN" altLang="zh-CN" sz="1800" i="1" kern="100">
                                  <a:solidFill>
                                    <a:srgbClr val="FF33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lit/>
                                </m:rPr>
                                <a:rPr lang="en-US" altLang="zh-CN" sz="1800" i="1" kern="100">
                                  <a:solidFill>
                                    <a:srgbClr val="FF33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altLang="zh-CN" sz="1800" b="1" i="1" kern="100">
                                  <a:solidFill>
                                    <a:srgbClr val="FF33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𝒀</m:t>
                              </m:r>
                              <m:r>
                                <a:rPr lang="en-US" altLang="zh-CN" sz="1800" i="1" kern="100">
                                  <a:solidFill>
                                    <a:srgbClr val="FF33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1800" b="1" i="1" kern="100">
                                  <a:solidFill>
                                    <a:srgbClr val="FF33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</m:d>
                          <m:sSub>
                            <m:sSubPr>
                              <m:ctrlPr>
                                <a:rPr lang="zh-CN" altLang="zh-CN" sz="1800" i="1" kern="100">
                                  <a:solidFill>
                                    <a:srgbClr val="FF33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lit/>
                                </m:rPr>
                                <a:rPr lang="en-US" altLang="zh-CN" sz="1800" i="1" kern="100">
                                  <a:solidFill>
                                    <a:srgbClr val="FF33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solidFill>
                                    <a:srgbClr val="FF33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zh-CN" sz="1800" kern="100" dirty="0">
                  <a:effectLst/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D48496-DB10-D03D-8253-9DAAB6BCC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6261" y="937204"/>
                <a:ext cx="2076554" cy="9800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014AA1-DAC1-BA3D-368D-2CED34E46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B14A0-4A7C-C81E-CD7F-26ED55708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4005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1831" y="3819054"/>
            <a:ext cx="9748337" cy="1340999"/>
          </a:xfrm>
        </p:spPr>
        <p:txBody>
          <a:bodyPr/>
          <a:lstStyle/>
          <a:p>
            <a:r>
              <a:rPr lang="en-US" altLang="zh-CN" dirty="0"/>
              <a:t>Thank you for your attention!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831" y="2028083"/>
            <a:ext cx="9748800" cy="1317600"/>
          </a:xfrm>
        </p:spPr>
        <p:txBody>
          <a:bodyPr/>
          <a:lstStyle/>
          <a:p>
            <a:r>
              <a:rPr lang="en-US" altLang="zh-CN" dirty="0"/>
              <a:t>Q&amp;A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64EAA4-2F9F-0D17-F2AC-83A9FE8A4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Institute of Interdisciplinary Information Sciences (IIIS), Tsinghua University Wharton Statistics and Data Science Department, University of Pennsylvania</a:t>
            </a:r>
            <a:endParaRPr kumimoji="1"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F872B-844E-5CFF-0935-3D565B472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3308298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扁平-16:9">
  <a:themeElements>
    <a:clrScheme name="清华紫主题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660874"/>
      </a:accent1>
      <a:accent2>
        <a:srgbClr val="660874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8146</TotalTime>
  <Words>707</Words>
  <Application>Microsoft Office PowerPoint</Application>
  <PresentationFormat>Widescreen</PresentationFormat>
  <Paragraphs>102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等线</vt:lpstr>
      <vt:lpstr>等线</vt:lpstr>
      <vt:lpstr>Arial</vt:lpstr>
      <vt:lpstr>Cambria Math</vt:lpstr>
      <vt:lpstr>Gill Sans MT</vt:lpstr>
      <vt:lpstr>Wingdings 2</vt:lpstr>
      <vt:lpstr>清华简约主题-扁平-16:9</vt:lpstr>
      <vt:lpstr>Multi-Agent Owner-Assisted Scoring Mechanisms</vt:lpstr>
      <vt:lpstr>Contents</vt:lpstr>
      <vt:lpstr>Why we need owner-assisted scoring?</vt:lpstr>
      <vt:lpstr>Contents</vt:lpstr>
      <vt:lpstr>Mechanism M_2 for Two Agents </vt:lpstr>
      <vt:lpstr>Contents</vt:lpstr>
      <vt:lpstr>Mechanism M_n for Multiple (n) Agents </vt:lpstr>
      <vt:lpstr>Several Extensions</vt:lpstr>
      <vt:lpstr>Contents</vt:lpstr>
      <vt:lpstr>Simulations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 伟浩</dc:creator>
  <cp:lastModifiedBy>Feng Shi</cp:lastModifiedBy>
  <cp:revision>1337</cp:revision>
  <cp:lastPrinted>2020-04-04T02:50:47Z</cp:lastPrinted>
  <dcterms:created xsi:type="dcterms:W3CDTF">2020-01-04T07:43:38Z</dcterms:created>
  <dcterms:modified xsi:type="dcterms:W3CDTF">2022-12-17T09:23:22Z</dcterms:modified>
</cp:coreProperties>
</file>