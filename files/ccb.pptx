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22"/>
  </p:notesMasterIdLst>
  <p:sldIdLst>
    <p:sldId id="270" r:id="rId2"/>
    <p:sldId id="289" r:id="rId3"/>
    <p:sldId id="268" r:id="rId4"/>
    <p:sldId id="267" r:id="rId5"/>
    <p:sldId id="273" r:id="rId6"/>
    <p:sldId id="277" r:id="rId7"/>
    <p:sldId id="274" r:id="rId8"/>
    <p:sldId id="288" r:id="rId9"/>
    <p:sldId id="276" r:id="rId10"/>
    <p:sldId id="278" r:id="rId11"/>
    <p:sldId id="279" r:id="rId12"/>
    <p:sldId id="283" r:id="rId13"/>
    <p:sldId id="284" r:id="rId14"/>
    <p:sldId id="287" r:id="rId15"/>
    <p:sldId id="285" r:id="rId16"/>
    <p:sldId id="282" r:id="rId17"/>
    <p:sldId id="272" r:id="rId18"/>
    <p:sldId id="286" r:id="rId19"/>
    <p:sldId id="290" r:id="rId20"/>
    <p:sldId id="28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874"/>
    <a:srgbClr val="5C307D"/>
    <a:srgbClr val="FFFFFF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4"/>
    <p:restoredTop sz="86378"/>
  </p:normalViewPr>
  <p:slideViewPr>
    <p:cSldViewPr snapToGrid="0" snapToObjects="1">
      <p:cViewPr varScale="1">
        <p:scale>
          <a:sx n="96" d="100"/>
          <a:sy n="96" d="100"/>
        </p:scale>
        <p:origin x="748" y="56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D8CDC32-572D-47A1-BA45-FD1522B5CEA1}"/>
              </a:ext>
            </a:extLst>
          </p:cNvPr>
          <p:cNvGrpSpPr/>
          <p:nvPr userDrawn="1"/>
        </p:nvGrpSpPr>
        <p:grpSpPr>
          <a:xfrm>
            <a:off x="599226" y="1732459"/>
            <a:ext cx="10993549" cy="1907212"/>
            <a:chOff x="599225" y="1732459"/>
            <a:chExt cx="10993549" cy="190721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736370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C216EDB-A291-4C86-911A-A3F95FDC0CF3}"/>
                </a:ext>
              </a:extLst>
            </p:cNvPr>
            <p:cNvSpPr/>
            <p:nvPr userDrawn="1"/>
          </p:nvSpPr>
          <p:spPr>
            <a:xfrm>
              <a:off x="599225" y="1732459"/>
              <a:ext cx="489346" cy="792000"/>
            </a:xfrm>
            <a:prstGeom prst="rect">
              <a:avLst/>
            </a:prstGeom>
            <a:solidFill>
              <a:srgbClr val="6608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FB8BDD-FC0A-384D-B32A-D2CC0933A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A11234-2E12-B147-A4FF-3B4989798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FFF194-7BE9-7440-90F5-0BA3D1B44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030AE285-88AF-E941-9028-A7F40F9D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77" y="2180498"/>
            <a:ext cx="10521387" cy="3678303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B3414000-0475-7845-9508-337FFFC1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1" name="日期占位符 10">
            <a:extLst>
              <a:ext uri="{FF2B5EF4-FFF2-40B4-BE49-F238E27FC236}">
                <a16:creationId xmlns:a16="http://schemas.microsoft.com/office/drawing/2014/main" id="{2265DA69-D9B6-384B-91FC-5C225D98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12" name="页脚占位符 11">
            <a:extLst>
              <a:ext uri="{FF2B5EF4-FFF2-40B4-BE49-F238E27FC236}">
                <a16:creationId xmlns:a16="http://schemas.microsoft.com/office/drawing/2014/main" id="{198CD9FF-6143-0B4F-B35B-FC5B48F3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13" name="灯片编号占位符 12">
            <a:extLst>
              <a:ext uri="{FF2B5EF4-FFF2-40B4-BE49-F238E27FC236}">
                <a16:creationId xmlns:a16="http://schemas.microsoft.com/office/drawing/2014/main" id="{B99E00C6-785E-8740-9B07-6D282AB5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597317"/>
            <a:ext cx="2844799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285" y="5592991"/>
            <a:ext cx="5811116" cy="365125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597317"/>
            <a:ext cx="1052508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>
            <a:off x="695915" y="678673"/>
            <a:ext cx="360000" cy="583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727A51-3FBC-4883-9957-A794F7F65BF9}"/>
              </a:ext>
            </a:extLst>
          </p:cNvPr>
          <p:cNvSpPr/>
          <p:nvPr userDrawn="1"/>
        </p:nvSpPr>
        <p:spPr>
          <a:xfrm>
            <a:off x="695915" y="1261873"/>
            <a:ext cx="360000" cy="49174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5597323"/>
            <a:ext cx="2523280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592997"/>
            <a:ext cx="6585500" cy="365125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55973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02FBCA2-8AC8-4B46-8CCD-69EDADC02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2534"/>
            <a:ext cx="10267200" cy="13824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CC752BD4-8A44-D64D-B845-986E21B7D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7" y="3819054"/>
            <a:ext cx="10265664" cy="134099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6" y="4914808"/>
            <a:ext cx="385561" cy="1032227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463" y="4928762"/>
            <a:ext cx="10333301" cy="65314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400" b="0">
                <a:solidFill>
                  <a:srgbClr val="660874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1463" y="5581910"/>
            <a:ext cx="10333301" cy="365126"/>
          </a:xfrm>
        </p:spPr>
        <p:txBody>
          <a:bodyPr anchor="ctr">
            <a:normAutofit/>
          </a:bodyPr>
          <a:lstStyle>
            <a:lvl1pPr marL="0" indent="0" algn="l">
              <a:buNone/>
              <a:defRPr sz="1600">
                <a:solidFill>
                  <a:srgbClr val="660874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451282BD-10C7-4442-892B-E8FEFE30AD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6088813"/>
            <a:ext cx="2523280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AB4D4DE8-6CE5-7146-97D4-07B9C9043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6084487"/>
            <a:ext cx="6585500" cy="365125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11" name="灯片编号占位符 10">
            <a:extLst>
              <a:ext uri="{FF2B5EF4-FFF2-40B4-BE49-F238E27FC236}">
                <a16:creationId xmlns:a16="http://schemas.microsoft.com/office/drawing/2014/main" id="{EB1C0495-D0F2-7747-B5EB-46C12779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608881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395677"/>
            <a:ext cx="11029616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496241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84030" y="675726"/>
            <a:ext cx="88976" cy="7918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9649" y="675726"/>
            <a:ext cx="1899496" cy="5183073"/>
          </a:xfrm>
          <a:prstGeom prst="rect">
            <a:avLst/>
          </a:prstGeom>
        </p:spPr>
        <p:txBody>
          <a:bodyPr vert="eaVert" anchor="b"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791611" cy="5183073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A3BF425-86B0-F846-8CE5-D4D4E55EFE0D}"/>
              </a:ext>
            </a:extLst>
          </p:cNvPr>
          <p:cNvSpPr/>
          <p:nvPr userDrawn="1"/>
        </p:nvSpPr>
        <p:spPr>
          <a:xfrm>
            <a:off x="586670" y="654624"/>
            <a:ext cx="82800" cy="89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376" y="2336003"/>
            <a:ext cx="10521388" cy="31548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23545" y="5597323"/>
            <a:ext cx="252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E4551058-E5DB-324A-A8E9-6D3BEF243C3B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3377" y="5592997"/>
            <a:ext cx="6585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51493" y="5597323"/>
            <a:ext cx="1203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660874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964981"/>
          </a:xfrm>
        </p:spPr>
        <p:txBody>
          <a:bodyPr>
            <a:normAutofit/>
          </a:bodyPr>
          <a:lstStyle/>
          <a:p>
            <a:pPr algn="l"/>
            <a:r>
              <a:rPr lang="en-US" altLang="zh-CN" b="1" i="1" dirty="0"/>
              <a:t>Shi</a:t>
            </a:r>
            <a:r>
              <a:rPr lang="zh-CN" altLang="en-US" b="1" i="1" dirty="0"/>
              <a:t> </a:t>
            </a:r>
            <a:r>
              <a:rPr lang="en-US" altLang="zh-CN" b="1" i="1" dirty="0"/>
              <a:t>Feng</a:t>
            </a:r>
            <a:r>
              <a:rPr lang="en-US" altLang="zh-CN" i="1" dirty="0"/>
              <a:t>, Institute for Interdisciplinary Information Sciences, Tsinghua University</a:t>
            </a:r>
          </a:p>
          <a:p>
            <a:pPr algn="l"/>
            <a:r>
              <a:rPr lang="en-US" altLang="zh-CN" b="1" i="1" dirty="0"/>
              <a:t>Wei Chen</a:t>
            </a:r>
            <a:r>
              <a:rPr lang="en-US" altLang="zh-CN" i="1" dirty="0"/>
              <a:t>, MSR Asia Theory Center, Microsoft Research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/>
          <a:lstStyle/>
          <a:p>
            <a:r>
              <a:rPr lang="en-US" altLang="zh-CN" b="1" dirty="0"/>
              <a:t>Combinatorial Causal Bandits</a:t>
            </a:r>
            <a:endParaRPr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15ABE7-7496-5E74-D040-C6F4BE617569}"/>
              </a:ext>
            </a:extLst>
          </p:cNvPr>
          <p:cNvSpPr txBox="1"/>
          <p:nvPr/>
        </p:nvSpPr>
        <p:spPr>
          <a:xfrm>
            <a:off x="4502425" y="5155960"/>
            <a:ext cx="3187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accent1"/>
                </a:solidFill>
              </a:rPr>
              <a:t>AAAI 2023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>
                <a:solidFill>
                  <a:schemeClr val="accent1"/>
                </a:solidFill>
              </a:rPr>
              <a:t>Background</a:t>
            </a:r>
          </a:p>
          <a:p>
            <a:r>
              <a:rPr lang="en-US" altLang="zh-CN" dirty="0"/>
              <a:t>Combinatorial Causal Bandits on BGLMs</a:t>
            </a:r>
          </a:p>
          <a:p>
            <a:r>
              <a:rPr lang="en-US" altLang="zh-CN" dirty="0"/>
              <a:t>Combinatorial Causal Bandits on BLMs</a:t>
            </a:r>
          </a:p>
          <a:p>
            <a:r>
              <a:rPr lang="en-US" altLang="zh-CN" dirty="0"/>
              <a:t>Simulations</a:t>
            </a:r>
          </a:p>
          <a:p>
            <a:r>
              <a:rPr lang="en-US" altLang="zh-CN" dirty="0"/>
              <a:t>Future Work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4940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Combinatorial Causal Bandits (CCB)</a:t>
            </a:r>
            <a:endParaRPr lang="zh-CN" altLang="en-US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9C0AE808-D270-D586-87CF-9EE9025A4CD2}"/>
              </a:ext>
            </a:extLst>
          </p:cNvPr>
          <p:cNvSpPr/>
          <p:nvPr/>
        </p:nvSpPr>
        <p:spPr>
          <a:xfrm>
            <a:off x="4505739" y="1608624"/>
            <a:ext cx="3180522" cy="3054626"/>
          </a:xfrm>
          <a:prstGeom prst="flowChartConnecto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F00E3142-BAE2-7CEF-58D1-793227FE05C9}"/>
              </a:ext>
            </a:extLst>
          </p:cNvPr>
          <p:cNvSpPr/>
          <p:nvPr/>
        </p:nvSpPr>
        <p:spPr>
          <a:xfrm>
            <a:off x="3392556" y="3135937"/>
            <a:ext cx="3180522" cy="3054626"/>
          </a:xfrm>
          <a:prstGeom prst="flowChartConnecto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FA0338B8-2342-409E-92BC-2CA30A487E1F}"/>
              </a:ext>
            </a:extLst>
          </p:cNvPr>
          <p:cNvSpPr/>
          <p:nvPr/>
        </p:nvSpPr>
        <p:spPr>
          <a:xfrm>
            <a:off x="5539409" y="3135937"/>
            <a:ext cx="3180522" cy="3054626"/>
          </a:xfrm>
          <a:prstGeom prst="flowChartConnecto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B790D1-8DF5-F8A8-B679-1B2FF2515F14}"/>
              </a:ext>
            </a:extLst>
          </p:cNvPr>
          <p:cNvSpPr txBox="1"/>
          <p:nvPr/>
        </p:nvSpPr>
        <p:spPr>
          <a:xfrm>
            <a:off x="5181600" y="2187614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accent1"/>
                </a:solidFill>
              </a:rPr>
              <a:t>Causal Inference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58F368-A97D-C1FB-D6DC-872B062EEA2F}"/>
              </a:ext>
            </a:extLst>
          </p:cNvPr>
          <p:cNvSpPr txBox="1"/>
          <p:nvPr/>
        </p:nvSpPr>
        <p:spPr>
          <a:xfrm>
            <a:off x="3591339" y="4709705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</a:rPr>
              <a:t>Combinatorial Optimization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D726E5-4283-851F-A6D1-2E7E5E2A9849}"/>
              </a:ext>
            </a:extLst>
          </p:cNvPr>
          <p:cNvSpPr txBox="1"/>
          <p:nvPr/>
        </p:nvSpPr>
        <p:spPr>
          <a:xfrm>
            <a:off x="6732104" y="4571206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accent1"/>
                </a:solidFill>
              </a:rPr>
              <a:t>Multi-Armed Bandits / Online Learning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0" name="Callout: Line 19">
            <a:extLst>
              <a:ext uri="{FF2B5EF4-FFF2-40B4-BE49-F238E27FC236}">
                <a16:creationId xmlns:a16="http://schemas.microsoft.com/office/drawing/2014/main" id="{3AD4FE73-160E-2D32-56D1-AB61F690677A}"/>
              </a:ext>
            </a:extLst>
          </p:cNvPr>
          <p:cNvSpPr/>
          <p:nvPr/>
        </p:nvSpPr>
        <p:spPr>
          <a:xfrm>
            <a:off x="8156713" y="2390643"/>
            <a:ext cx="2968487" cy="615192"/>
          </a:xfrm>
          <a:prstGeom prst="borderCallout1">
            <a:avLst>
              <a:gd name="adj1" fmla="val 48408"/>
              <a:gd name="adj2" fmla="val -8720"/>
              <a:gd name="adj3" fmla="val 296943"/>
              <a:gd name="adj4" fmla="val -7124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FF0000"/>
                </a:solidFill>
              </a:rPr>
              <a:t>Combinatorial Causal Bandits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9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A4184C-CC2D-694B-9F25-182F7D3C3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5" y="2188335"/>
            <a:ext cx="5574440" cy="37817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/>
              <a:t>Actions (or super arms) are combinatorial objects</a:t>
            </a:r>
          </a:p>
          <a:p>
            <a:r>
              <a:rPr lang="en-US" altLang="zh-CN" sz="2000" dirty="0"/>
              <a:t>E.g.</a:t>
            </a:r>
            <a:r>
              <a:rPr lang="zh-CN" altLang="en-US" sz="2000" dirty="0"/>
              <a:t> </a:t>
            </a:r>
            <a:r>
              <a:rPr lang="en-US" altLang="zh-CN" sz="2000" dirty="0"/>
              <a:t>route communication, a mixture of news recommendation</a:t>
            </a:r>
          </a:p>
          <a:p>
            <a:r>
              <a:rPr lang="en-US" altLang="zh-CN" sz="2000" dirty="0"/>
              <a:t>Action</a:t>
            </a:r>
            <a:r>
              <a:rPr lang="zh-CN" altLang="en-US" sz="2000" dirty="0"/>
              <a:t> </a:t>
            </a:r>
            <a:r>
              <a:rPr lang="en-US" altLang="zh-CN" sz="2000" dirty="0"/>
              <a:t>space is exponentially large, cannot fully explore</a:t>
            </a:r>
          </a:p>
          <a:p>
            <a:pPr marL="0" indent="0">
              <a:buNone/>
            </a:pPr>
            <a:r>
              <a:rPr lang="en-US" altLang="zh-CN" sz="2400" dirty="0"/>
              <a:t>Feedback at the base arm level</a:t>
            </a:r>
          </a:p>
          <a:p>
            <a:r>
              <a:rPr lang="en-US" altLang="zh-CN" sz="2000" dirty="0"/>
              <a:t>E.g. get delay feedback on every road segment, click through feedback on every news piece</a:t>
            </a:r>
            <a:endParaRPr lang="zh-CN" altLang="en-US" sz="2000" dirty="0"/>
          </a:p>
          <a:p>
            <a:endParaRPr lang="zh-CN" altLang="en-US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Combinatorial Optimization with Online Learning</a:t>
            </a:r>
            <a:endParaRPr lang="zh-CN" altLang="en-US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A7D4A271-D14C-1A1C-EBC2-98C3BFC2C27F}"/>
              </a:ext>
            </a:extLst>
          </p:cNvPr>
          <p:cNvSpPr/>
          <p:nvPr/>
        </p:nvSpPr>
        <p:spPr>
          <a:xfrm>
            <a:off x="7063408" y="1702905"/>
            <a:ext cx="2405270" cy="2339008"/>
          </a:xfrm>
          <a:prstGeom prst="flowChartConnecto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23B1F215-0181-1C5B-4802-A78356BB5287}"/>
              </a:ext>
            </a:extLst>
          </p:cNvPr>
          <p:cNvSpPr/>
          <p:nvPr/>
        </p:nvSpPr>
        <p:spPr>
          <a:xfrm>
            <a:off x="8832573" y="1656523"/>
            <a:ext cx="2405270" cy="2339008"/>
          </a:xfrm>
          <a:prstGeom prst="flowChartConnecto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ACF39-1FBC-B7D0-64BB-D4F057A1CAF8}"/>
              </a:ext>
            </a:extLst>
          </p:cNvPr>
          <p:cNvSpPr txBox="1"/>
          <p:nvPr/>
        </p:nvSpPr>
        <p:spPr>
          <a:xfrm>
            <a:off x="7142923" y="2564417"/>
            <a:ext cx="1689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Online Learning / Multi-Armed Bandits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40472-4CD0-2AC9-2A4E-AEAA84647039}"/>
              </a:ext>
            </a:extLst>
          </p:cNvPr>
          <p:cNvSpPr txBox="1"/>
          <p:nvPr/>
        </p:nvSpPr>
        <p:spPr>
          <a:xfrm>
            <a:off x="9548193" y="2551164"/>
            <a:ext cx="1537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400" dirty="0">
                <a:solidFill>
                  <a:schemeClr val="accent1"/>
                </a:solidFill>
              </a:rPr>
              <a:t>Combinatorial Optimization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E84365C-A156-6A45-BDFB-7A2D9A563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747" y="4235714"/>
            <a:ext cx="2765495" cy="193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22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CCB Model: Causal Graph Model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A8F3E0-2A5F-AF7D-5AAF-E474E837E2E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sz="2000" dirty="0"/>
                  <a:t>Causal Graph </a:t>
                </a:r>
                <a14:m>
                  <m:oMath xmlns:m="http://schemas.openxmlformats.org/officeDocument/2006/math">
                    <m:r>
                      <a:rPr lang="en-US" altLang="zh-CN" sz="20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US" altLang="zh-CN" sz="20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sz="20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2000" b="1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𝑼</m:t>
                        </m:r>
                        <m:r>
                          <a:rPr lang="zh-CN" altLang="zh-CN" sz="2000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∪</m:t>
                        </m:r>
                        <m:r>
                          <a:rPr lang="en-US" altLang="zh-CN" sz="20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𝑽</m:t>
                        </m:r>
                        <m:r>
                          <a:rPr lang="zh-CN" altLang="zh-CN" sz="2000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∪</m:t>
                        </m:r>
                        <m:r>
                          <m:rPr>
                            <m:lit/>
                          </m:rPr>
                          <a:rPr lang="en-US" altLang="zh-CN" sz="20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{</m:t>
                        </m:r>
                        <m:r>
                          <a:rPr lang="en-US" altLang="zh-CN" sz="20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𝑌</m:t>
                        </m:r>
                        <m:r>
                          <m:rPr>
                            <m:lit/>
                          </m:rPr>
                          <a:rPr lang="en-US" altLang="zh-CN" sz="20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}</m:t>
                        </m:r>
                        <m:r>
                          <a:rPr lang="en-US" altLang="zh-CN" sz="20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20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zh-CN" altLang="zh-CN" sz="20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altLang="zh-CN" sz="1800" dirty="0"/>
                  <a:t>A direct acyclic graph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altLang="zh-CN" sz="1800" dirty="0"/>
                  <a:t>: set of observed variables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zh-CN" sz="1800" dirty="0"/>
                  <a:t>: set of observed variables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CN" sz="1800" dirty="0"/>
                  <a:t>: target variables, also observed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zh-CN" sz="1800" dirty="0"/>
                  <a:t>: set of directed edges</a:t>
                </a:r>
              </a:p>
              <a:p>
                <a:pPr lvl="1"/>
                <a:r>
                  <a:rPr lang="en-US" altLang="zh-CN" sz="1800" dirty="0">
                    <a:solidFill>
                      <a:schemeClr val="accent1"/>
                    </a:solidFill>
                  </a:rPr>
                  <a:t>Known to the learning agent</a:t>
                </a:r>
              </a:p>
              <a:p>
                <a:r>
                  <a:rPr lang="en-US" altLang="zh-CN" sz="2000" dirty="0"/>
                  <a:t>Causal inference: probability distribution from parents of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sz="2000" dirty="0"/>
                  <a:t> to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sz="2000" dirty="0"/>
                  <a:t>: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𝑃𝑎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altLang="zh-CN" sz="2000" dirty="0"/>
              </a:p>
              <a:p>
                <a:pPr lvl="1"/>
                <a:r>
                  <a:rPr lang="en-US" altLang="zh-CN" sz="1800" dirty="0">
                    <a:solidFill>
                      <a:schemeClr val="accent1"/>
                    </a:solidFill>
                  </a:rPr>
                  <a:t>Unknown to the learning agent  </a:t>
                </a:r>
                <a:endParaRPr lang="zh-CN" altLang="en-US" sz="18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A8F3E0-2A5F-AF7D-5AAF-E474E837E2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  <a:blipFill>
                <a:blip r:embed="rId2"/>
                <a:stretch>
                  <a:fillRect l="-679" t="-10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87C34EF1-895B-C0FE-CED6-9BCA36993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177" y="2663833"/>
            <a:ext cx="6251517" cy="235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13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CCB Model: Learning Process and the Goal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A8F3E0-2A5F-AF7D-5AAF-E474E837E2E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CN" sz="2000" dirty="0"/>
                  <a:t>In each round </a:t>
                </a:r>
                <a14:m>
                  <m:oMath xmlns:m="http://schemas.openxmlformats.org/officeDocument/2006/math">
                    <m:r>
                      <a:rPr lang="en-US" altLang="zh-CN" sz="2000"/>
                      <m:t>𝑡</m:t>
                    </m:r>
                  </m:oMath>
                </a14:m>
                <a:r>
                  <a:rPr lang="en-US" altLang="zh-CN" sz="2000" dirty="0"/>
                  <a:t>, the learning agent select at most </a:t>
                </a:r>
                <a14:m>
                  <m:oMath xmlns:m="http://schemas.openxmlformats.org/officeDocument/2006/math">
                    <m:r>
                      <a:rPr lang="en-US" altLang="zh-CN" sz="2000"/>
                      <m:t>𝐾</m:t>
                    </m:r>
                  </m:oMath>
                </a14:m>
                <a:r>
                  <a:rPr lang="en-US" altLang="zh-CN" sz="2000" dirty="0"/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/>
                        </m:ctrlPr>
                      </m:sSubPr>
                      <m:e>
                        <m:r>
                          <a:rPr lang="en-US" altLang="zh-CN" b="1" i="1"/>
                          <m:t>𝑺</m:t>
                        </m:r>
                      </m:e>
                      <m:sub>
                        <m:r>
                          <a:rPr lang="en-US" altLang="zh-CN" i="1"/>
                          <m:t>𝑡</m:t>
                        </m:r>
                      </m:sub>
                    </m:sSub>
                    <m:r>
                      <a:rPr lang="en-US" altLang="zh-CN"/>
                      <m:t>⊂</m:t>
                    </m:r>
                    <m:r>
                      <a:rPr lang="en-US" altLang="zh-CN" b="1" i="1"/>
                      <m:t>𝑿</m:t>
                    </m:r>
                  </m:oMath>
                </a14:m>
                <a:r>
                  <a:rPr lang="en-US" altLang="zh-CN" sz="2000" dirty="0"/>
                  <a:t> to intervene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𝑑𝑜</m:t>
                    </m:r>
                    <m:d>
                      <m:dPr>
                        <m:ctrlPr>
                          <a:rPr lang="zh-CN" altLang="zh-CN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zh-CN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𝑑𝑜</m:t>
                    </m:r>
                    <m:d>
                      <m:dPr>
                        <m:ctrlPr>
                          <a:rPr lang="zh-CN" altLang="zh-CN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zh-CN" altLang="zh-CN" dirty="0"/>
              </a:p>
              <a:p>
                <a:r>
                  <a:rPr lang="en-US" altLang="zh-CN" sz="2000" dirty="0"/>
                  <a:t>Observe the sample values of all 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  <m:r>
                      <a:rPr lang="zh-CN" altLang="zh-CN" sz="1800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∪</m:t>
                    </m:r>
                    <m:sSub>
                      <m:sSub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altLang="zh-CN" sz="2000" dirty="0"/>
              </a:p>
              <a:p>
                <a:r>
                  <a:rPr lang="en-US" altLang="zh-CN" sz="2000" b="1" dirty="0"/>
                  <a:t>Goal: </a:t>
                </a:r>
                <a:r>
                  <a:rPr lang="en-US" altLang="zh-CN" sz="2000" dirty="0"/>
                  <a:t>maximize the cumulative reward on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altLang="zh-CN" sz="2000" dirty="0"/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𝔼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zh-CN" altLang="zh-CN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𝑑𝑜</m:t>
                            </m:r>
                            <m:d>
                              <m:dPr>
                                <m:ctrlPr>
                                  <a:rPr lang="zh-CN" altLang="zh-CN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altLang="zh-CN" sz="1800" dirty="0"/>
              </a:p>
              <a:p>
                <a:r>
                  <a:rPr lang="en-US" altLang="zh-CN" sz="2000" b="1" dirty="0"/>
                  <a:t>Metric: </a:t>
                </a:r>
                <a:r>
                  <a:rPr lang="en-US" altLang="zh-CN" sz="2000" dirty="0"/>
                  <a:t>regret:</a:t>
                </a:r>
              </a:p>
              <a:p>
                <a:pPr lvl="1"/>
                <a:r>
                  <a:rPr lang="en-US" altLang="zh-CN" sz="1800" dirty="0"/>
                  <a:t> </a:t>
                </a:r>
                <a14:m>
                  <m:oMath xmlns:m="http://schemas.openxmlformats.org/officeDocument/2006/math">
                    <m:r>
                      <a:rPr lang="en-US" altLang="zh-CN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zh-CN" altLang="zh-CN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zh-CN" altLang="zh-CN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zh-CN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p>
                          <m:e>
                            <m:d>
                              <m:dPr>
                                <m:ctrlPr>
                                  <a:rPr lang="zh-CN" altLang="zh-CN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 kern="100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𝔼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𝑌</m:t>
                                    </m:r>
                                  </m:e>
                                  <m:e>
                                    <m:r>
                                      <a:rPr lang="en-US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𝑑𝑜</m:t>
                                    </m:r>
                                    <m:d>
                                      <m:dPr>
                                        <m:ctrlPr>
                                          <a:rPr lang="zh-CN" altLang="zh-CN" i="1" kern="10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zh-CN" altLang="zh-CN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b="1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DengXian" panose="02010600030101010101" pitchFamily="2" charset="-122"/>
                                                <a:cs typeface="Times New Roman" panose="02020603050405020304" pitchFamily="18" charset="0"/>
                                              </a:rPr>
                                              <m:t>𝑺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DengXian" panose="02010600030101010101" pitchFamily="2" charset="-122"/>
                                                <a:cs typeface="Times New Roman" panose="02020603050405020304" pitchFamily="18" charset="0"/>
                                              </a:rPr>
                                              <m:t>∗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</m:d>
                                <m:r>
                                  <a:rPr lang="en-US" altLang="zh-CN" i="1" kern="100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i="1" kern="100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𝔼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𝑌</m:t>
                                    </m:r>
                                  </m:e>
                                  <m:e>
                                    <m:r>
                                      <a:rPr lang="en-US" altLang="zh-CN" i="1" kern="1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𝑑𝑜</m:t>
                                    </m:r>
                                    <m:d>
                                      <m:dPr>
                                        <m:ctrlPr>
                                          <a:rPr lang="zh-CN" altLang="zh-CN" i="1" kern="100"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1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DengXian" panose="02010600030101010101" pitchFamily="2" charset="-122"/>
                                                <a:cs typeface="Times New Roman" panose="02020603050405020304" pitchFamily="18" charset="0"/>
                                              </a:rPr>
                                              <m:t>𝑺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 kern="100">
                                                <a:effectLst/>
                                                <a:latin typeface="Cambria Math" panose="02040503050406030204" pitchFamily="18" charset="0"/>
                                                <a:ea typeface="DengXian" panose="02010600030101010101" pitchFamily="2" charset="-122"/>
                                                <a:cs typeface="Times New Roman" panose="020206030504050203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zh-CN" altLang="zh-CN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lvl="1"/>
                <a:endParaRPr lang="en-US" altLang="zh-CN" sz="1800" dirty="0"/>
              </a:p>
              <a:p>
                <a:pPr marL="0" indent="0">
                  <a:buNone/>
                </a:pPr>
                <a:r>
                  <a:rPr lang="en-US" altLang="zh-CN" sz="1800" dirty="0"/>
                  <a:t>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A8F3E0-2A5F-AF7D-5AAF-E474E837E2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  <a:blipFill>
                <a:blip r:embed="rId2"/>
                <a:stretch>
                  <a:fillRect l="-679" t="-15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87C34EF1-895B-C0FE-CED6-9BCA36993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153" y="2941983"/>
            <a:ext cx="4860541" cy="182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3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Application of CCB</a:t>
            </a:r>
            <a:endParaRPr lang="zh-CN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8B23DF-3F3E-C5C6-2D3C-FF78DA426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6922" y="2363894"/>
            <a:ext cx="4370705" cy="2824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ailed Drug Test | What Happens If You Fail a Drug Test? - West Coast  Recovery Centers">
            <a:extLst>
              <a:ext uri="{FF2B5EF4-FFF2-40B4-BE49-F238E27FC236}">
                <a16:creationId xmlns:a16="http://schemas.microsoft.com/office/drawing/2014/main" id="{575DF59E-29CC-B850-87AB-6A8370600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375" y="2401131"/>
            <a:ext cx="4293304" cy="2750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04C80C-5699-74F9-F526-11B88510AF4F}"/>
              </a:ext>
            </a:extLst>
          </p:cNvPr>
          <p:cNvSpPr txBox="1"/>
          <p:nvPr/>
        </p:nvSpPr>
        <p:spPr>
          <a:xfrm>
            <a:off x="2905362" y="5467405"/>
            <a:ext cx="1793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accent1"/>
                </a:solidFill>
              </a:rPr>
              <a:t>Parameter Tuning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FC4AF3-40AF-97B0-1BDA-45D219158F6B}"/>
              </a:ext>
            </a:extLst>
          </p:cNvPr>
          <p:cNvSpPr txBox="1"/>
          <p:nvPr/>
        </p:nvSpPr>
        <p:spPr>
          <a:xfrm>
            <a:off x="7679692" y="5467405"/>
            <a:ext cx="1342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accent1"/>
                </a:solidFill>
              </a:rPr>
              <a:t>Drug Testing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45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Combinatorial Causal Bandits on BGLMs</a:t>
            </a:r>
          </a:p>
          <a:p>
            <a:r>
              <a:rPr lang="en-US" altLang="zh-CN" dirty="0"/>
              <a:t>Combinatorial Causal Bandits on BLMs</a:t>
            </a:r>
          </a:p>
          <a:p>
            <a:r>
              <a:rPr lang="en-US" altLang="zh-CN" dirty="0"/>
              <a:t>Simulations</a:t>
            </a:r>
          </a:p>
          <a:p>
            <a:r>
              <a:rPr lang="en-US" altLang="zh-CN" dirty="0"/>
              <a:t>Future Work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9071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Binary Generalized Linear Model (BGLM)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altLang="zh-CN" sz="2200" dirty="0"/>
                  <a:t>General distribution </a:t>
                </a:r>
                <a14:m>
                  <m:oMath xmlns:m="http://schemas.openxmlformats.org/officeDocument/2006/math">
                    <m:r>
                      <a:rPr lang="en-US" altLang="zh-CN" sz="18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e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𝑷𝒂</m:t>
                        </m:r>
                        <m:d>
                          <m:dPr>
                            <m:ctrlPr>
                              <a:rPr lang="zh-CN" altLang="zh-CN" sz="18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zh-CN" sz="2200" dirty="0"/>
                  <a:t> requires an exponential number of parameters</a:t>
                </a:r>
                <a:endParaRPr lang="zh-CN" altLang="zh-CN" dirty="0"/>
              </a:p>
              <a:p>
                <a:r>
                  <a:rPr lang="en-US" altLang="zh-CN" sz="2200" dirty="0"/>
                  <a:t>Focus on binary generalized linear model (BGLM):</a:t>
                </a:r>
              </a:p>
              <a:p>
                <a:pPr lvl="1"/>
                <a:r>
                  <a:rPr lang="en-US" altLang="zh-CN" sz="1800" dirty="0"/>
                  <a:t>All variables are binary </a:t>
                </a:r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endParaRPr lang="en-US" altLang="zh-CN" sz="180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=1</m:t>
                        </m:r>
                      </m:e>
                      <m:e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𝑷𝒂</m:t>
                        </m:r>
                        <m:d>
                          <m:dPr>
                            <m:ctrlPr>
                              <a:rPr lang="zh-CN" altLang="zh-CN" sz="18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𝒑𝒂</m:t>
                        </m:r>
                        <m:d>
                          <m:dPr>
                            <m:ctrlPr>
                              <a:rPr lang="zh-CN" altLang="zh-CN" sz="18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en-US" altLang="zh-CN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zh-CN" altLang="zh-CN" sz="18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800" b="1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𝛉</m:t>
                            </m:r>
                          </m:e>
                          <m:sub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sz="1800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𝒑𝒂</m:t>
                        </m:r>
                        <m:d>
                          <m:dPr>
                            <m:ctrlPr>
                              <a:rPr lang="zh-CN" altLang="zh-CN" sz="18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en-US" altLang="zh-CN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zh-CN" altLang="zh-CN" sz="1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800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ε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𝛉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1800" dirty="0"/>
                  <a:t>: unknown weight vector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altLang="zh-CN" sz="1800" dirty="0"/>
                  <a:t>: monotonically non-decreasing function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800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ε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altLang="zh-CN" sz="1800" dirty="0"/>
                  <a:t>: zero-mean sub-Gaussian noise</a:t>
                </a:r>
              </a:p>
              <a:p>
                <a:r>
                  <a:rPr lang="en-US" altLang="zh-CN" sz="2200" dirty="0"/>
                  <a:t>Two Special Cases:</a:t>
                </a:r>
              </a:p>
              <a:p>
                <a:pPr lvl="1"/>
                <a:r>
                  <a:rPr lang="en-US" altLang="zh-CN" sz="1800" dirty="0"/>
                  <a:t>Independent cascade (IC) model</a:t>
                </a:r>
              </a:p>
              <a:p>
                <a:pPr lvl="1"/>
                <a:r>
                  <a:rPr lang="en-US" altLang="zh-CN" sz="1800" dirty="0"/>
                  <a:t>Binary linear model (BLM)</a:t>
                </a:r>
                <a:endParaRPr lang="zh-CN" altLang="zh-CN" sz="1800" dirty="0"/>
              </a:p>
              <a:p>
                <a:pPr lvl="1"/>
                <a:endParaRPr lang="en-US" altLang="zh-CN" sz="1800" dirty="0"/>
              </a:p>
              <a:p>
                <a:pPr marL="0" indent="0">
                  <a:buNone/>
                </a:pPr>
                <a:r>
                  <a:rPr lang="en-US" altLang="zh-CN" sz="1800" dirty="0"/>
                  <a:t> </a:t>
                </a:r>
              </a:p>
            </p:txBody>
          </p:sp>
        </mc:Choice>
        <mc:Fallback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5393100" cy="4213166"/>
              </a:xfrm>
              <a:blipFill>
                <a:blip r:embed="rId2"/>
                <a:stretch>
                  <a:fillRect l="-566" t="-2171" r="-11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2D6182B6-AE1C-EE83-4D7F-2A26E0B29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03" y="2941982"/>
            <a:ext cx="5600677" cy="210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67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Challenges of BGLM CCB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sz="2200" b="1" dirty="0"/>
                  <a:t>Learning challenge: </a:t>
                </a:r>
                <a:r>
                  <a:rPr lang="en-US" altLang="zh-CN" sz="2200" dirty="0"/>
                  <a:t>How to learn the key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24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24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𝛉</m:t>
                        </m:r>
                      </m:e>
                      <m:sub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CN" sz="2200" dirty="0"/>
                  <a:t> of observed variables? </a:t>
                </a:r>
              </a:p>
              <a:p>
                <a:r>
                  <a:rPr lang="en-US" altLang="zh-CN" sz="2000" b="1" dirty="0"/>
                  <a:t>Optimization challenge: </a:t>
                </a:r>
                <a:r>
                  <a:rPr lang="en-US" altLang="zh-CN" sz="2000" dirty="0"/>
                  <a:t>How to find optimal intervention set given the learned parameters?</a:t>
                </a:r>
              </a:p>
              <a:p>
                <a:r>
                  <a:rPr lang="en-US" altLang="zh-CN" sz="2000" b="1" dirty="0"/>
                  <a:t>Exploration-Exploitation tradeoff:</a:t>
                </a:r>
              </a:p>
              <a:p>
                <a:pPr lvl="1"/>
                <a:r>
                  <a:rPr lang="en-US" altLang="zh-CN" sz="1800" dirty="0"/>
                  <a:t>Exploration: try different intervention sets for better learning</a:t>
                </a:r>
              </a:p>
              <a:p>
                <a:pPr lvl="1"/>
                <a:r>
                  <a:rPr lang="en-US" altLang="zh-CN" sz="1800" dirty="0"/>
                  <a:t>Exploitation: keep intervene on current best intervention set for better optimization result</a:t>
                </a:r>
              </a:p>
              <a:p>
                <a:pPr lvl="1"/>
                <a:r>
                  <a:rPr lang="en-US" altLang="zh-CN" sz="1800" dirty="0"/>
                  <a:t>How to balance the two?</a:t>
                </a:r>
              </a:p>
              <a:p>
                <a:pPr marL="0" indent="0">
                  <a:buNone/>
                </a:pPr>
                <a:r>
                  <a:rPr lang="en-US" altLang="zh-CN" sz="1800" dirty="0"/>
                  <a:t> </a:t>
                </a:r>
              </a:p>
            </p:txBody>
          </p:sp>
        </mc:Choice>
        <mc:Fallback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  <a:blipFill>
                <a:blip r:embed="rId2"/>
                <a:stretch>
                  <a:fillRect l="-463" t="-4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46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Our Approach</a:t>
            </a:r>
            <a:endParaRPr lang="zh-CN" alt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9F89389-077D-E4F7-4B16-C2805C250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7699" y="2051410"/>
            <a:ext cx="10521388" cy="4213166"/>
          </a:xfrm>
        </p:spPr>
        <p:txBody>
          <a:bodyPr>
            <a:normAutofit/>
          </a:bodyPr>
          <a:lstStyle/>
          <a:p>
            <a:r>
              <a:rPr lang="en-US" altLang="zh-CN" sz="2200" b="1" dirty="0"/>
              <a:t>Learning: </a:t>
            </a:r>
            <a:r>
              <a:rPr lang="en-US" altLang="zh-CN" sz="2200" dirty="0"/>
              <a:t>applying </a:t>
            </a:r>
            <a:r>
              <a:rPr lang="en-US" altLang="zh-CN" sz="2200" dirty="0">
                <a:solidFill>
                  <a:schemeClr val="accent1"/>
                </a:solidFill>
              </a:rPr>
              <a:t>maximum likelihood estimation</a:t>
            </a:r>
            <a:r>
              <a:rPr lang="en-US" altLang="zh-CN" sz="2200" dirty="0"/>
              <a:t> approach on BGLM</a:t>
            </a:r>
          </a:p>
          <a:p>
            <a:r>
              <a:rPr lang="en-US" altLang="zh-CN" sz="2000" b="1" dirty="0"/>
              <a:t>Optimization: </a:t>
            </a:r>
            <a:r>
              <a:rPr lang="en-US" altLang="zh-CN" sz="2000" dirty="0"/>
              <a:t>computation may be inefficient, can use Lagrange multiplier method to optimize</a:t>
            </a:r>
            <a:endParaRPr lang="en-US" altLang="zh-CN" sz="1800" dirty="0"/>
          </a:p>
          <a:p>
            <a:r>
              <a:rPr lang="en-US" altLang="zh-CN" sz="2000" b="1" dirty="0"/>
              <a:t>Exploration-Exploitation tradeoff: </a:t>
            </a:r>
            <a:r>
              <a:rPr lang="en-US" altLang="zh-CN" sz="2000" dirty="0"/>
              <a:t>Apply the principles of </a:t>
            </a:r>
            <a:r>
              <a:rPr lang="en-US" altLang="zh-CN" sz="2000" dirty="0">
                <a:solidFill>
                  <a:schemeClr val="accent1"/>
                </a:solidFill>
              </a:rPr>
              <a:t>Optimism in the Face of Uncertainty (OFU)</a:t>
            </a:r>
          </a:p>
          <a:p>
            <a:pPr lvl="1"/>
            <a:r>
              <a:rPr lang="en-US" altLang="zh-CN" sz="1800" dirty="0"/>
              <a:t>Compute confidence region of the parameter estimate to cover the uncertainty</a:t>
            </a:r>
          </a:p>
          <a:p>
            <a:pPr lvl="1"/>
            <a:r>
              <a:rPr lang="en-US" altLang="zh-CN" sz="1800" dirty="0"/>
              <a:t>Optimize both the intervention set and the parameter setting in the confidence region</a:t>
            </a:r>
          </a:p>
          <a:p>
            <a:pPr marL="0" indent="0">
              <a:buNone/>
            </a:pPr>
            <a:r>
              <a:rPr lang="en-US" altLang="zh-CN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089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CCB for BGLM under Markovian Models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altLang="zh-CN" sz="2400" b="1" dirty="0"/>
                  <a:t>Assumptions:</a:t>
                </a:r>
              </a:p>
              <a:p>
                <a:pPr lvl="1"/>
                <a:r>
                  <a:rPr lang="en-US" altLang="zh-CN" dirty="0"/>
                  <a:t>First and second order derivative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a:rPr lang="en-US" altLang="zh-CN"/>
                          <m:t>𝑓</m:t>
                        </m:r>
                      </m:e>
                      <m:sub>
                        <m:r>
                          <a:rPr lang="en-US" altLang="zh-CN"/>
                          <m:t>𝑋</m:t>
                        </m:r>
                      </m:sub>
                    </m:sSub>
                  </m:oMath>
                </a14:m>
                <a:r>
                  <a:rPr lang="en-US" altLang="zh-CN" dirty="0"/>
                  <a:t> is upper bounded (i.e., changes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/>
                      <m:t>Pr</m:t>
                    </m:r>
                    <m:r>
                      <a:rPr lang="en-US" altLang="zh-CN"/>
                      <m:t>{</m:t>
                    </m:r>
                    <m:r>
                      <a:rPr lang="en-US" altLang="zh-CN"/>
                      <m:t>𝑋</m:t>
                    </m:r>
                    <m:r>
                      <a:rPr lang="en-US" altLang="zh-CN"/>
                      <m:t>=1}</m:t>
                    </m:r>
                  </m:oMath>
                </a14:m>
                <a:r>
                  <a:rPr lang="en-US" altLang="zh-CN" dirty="0"/>
                  <a:t> will not be too abrupt when parameter changes)</a:t>
                </a:r>
              </a:p>
              <a:p>
                <a:pPr lvl="1"/>
                <a:r>
                  <a:rPr lang="en-US" altLang="zh-CN" dirty="0"/>
                  <a:t>First order derivative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a:rPr lang="en-US" altLang="zh-CN"/>
                          <m:t>𝑓</m:t>
                        </m:r>
                      </m:e>
                      <m:sub>
                        <m:r>
                          <a:rPr lang="en-US" altLang="zh-CN"/>
                          <m:t>𝑋</m:t>
                        </m:r>
                      </m:sub>
                    </m:sSub>
                  </m:oMath>
                </a14:m>
                <a:r>
                  <a:rPr lang="en-US" altLang="zh-CN" dirty="0"/>
                  <a:t> is lower bounded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/>
                      <m:t>κ</m:t>
                    </m:r>
                    <m:r>
                      <a:rPr lang="en-US" altLang="zh-CN"/>
                      <m:t>&gt;0</m:t>
                    </m:r>
                  </m:oMath>
                </a14:m>
                <a:r>
                  <a:rPr lang="en-US" altLang="zh-CN" dirty="0"/>
                  <a:t> in the neighborhood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/>
                        </m:ctrlPr>
                      </m:sSubSupPr>
                      <m:e>
                        <m:r>
                          <a:rPr lang="en-US" altLang="zh-CN"/>
                          <m:t>𝛉</m:t>
                        </m:r>
                      </m:e>
                      <m:sub>
                        <m:r>
                          <a:rPr lang="en-US" altLang="zh-CN"/>
                          <m:t>𝑋</m:t>
                        </m:r>
                      </m:sub>
                      <m:sup>
                        <m:r>
                          <a:rPr lang="en-US" altLang="zh-CN"/>
                          <m:t>∗</m:t>
                        </m:r>
                      </m:sup>
                    </m:sSubSup>
                  </m:oMath>
                </a14:m>
                <a:r>
                  <a:rPr lang="en-US" altLang="zh-CN" dirty="0"/>
                  <a:t>.</a:t>
                </a:r>
              </a:p>
              <a:p>
                <a:pPr lvl="1"/>
                <a:r>
                  <a:rPr lang="en-US" altLang="zh-CN" dirty="0"/>
                  <a:t>The value of a parent node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altLang="zh-CN" dirty="0"/>
                  <a:t> of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dirty="0"/>
                  <a:t> is not fully determined by other parent nodes of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sz="2400" b="1" dirty="0"/>
                  <a:t>Algorithm outline (BGLM-OFU):</a:t>
                </a:r>
              </a:p>
              <a:p>
                <a:pPr lvl="1"/>
                <a:r>
                  <a:rPr lang="en-US" altLang="zh-CN" dirty="0"/>
                  <a:t>Execute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a:rPr lang="en-US" altLang="zh-CN"/>
                          <m:t>𝑇</m:t>
                        </m:r>
                      </m:e>
                      <m:sub>
                        <m:r>
                          <a:rPr lang="en-US" altLang="zh-CN"/>
                          <m:t>0</m:t>
                        </m:r>
                      </m:sub>
                    </m:sSub>
                  </m:oMath>
                </a14:m>
                <a:r>
                  <a:rPr lang="en-US" altLang="zh-CN" dirty="0"/>
                  <a:t> rounds without intervention, collect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/>
                        </m:ctrlPr>
                      </m:sSubPr>
                      <m:e>
                        <m:d>
                          <m:dPr>
                            <m:ctrlPr>
                              <a:rPr lang="zh-CN" altLang="zh-CN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i="1"/>
                                </m:ctrlPr>
                              </m:sSubPr>
                              <m:e>
                                <m:r>
                                  <a:rPr lang="en-US" altLang="zh-CN" b="1" i="1"/>
                                  <m:t>𝑿</m:t>
                                </m:r>
                              </m:e>
                              <m:sub>
                                <m:r>
                                  <a:rPr lang="en-US" altLang="zh-CN" i="1"/>
                                  <m:t>𝑡</m:t>
                                </m:r>
                              </m:sub>
                            </m:sSub>
                            <m:r>
                              <a:rPr lang="en-US" altLang="zh-CN" i="1"/>
                              <m:t>,</m:t>
                            </m:r>
                            <m:sSub>
                              <m:sSubPr>
                                <m:ctrlPr>
                                  <a:rPr lang="zh-CN" altLang="zh-CN" i="1"/>
                                </m:ctrlPr>
                              </m:sSubPr>
                              <m:e>
                                <m:r>
                                  <a:rPr lang="en-US" altLang="zh-CN" i="1"/>
                                  <m:t>𝑌</m:t>
                                </m:r>
                              </m:e>
                              <m:sub>
                                <m:r>
                                  <a:rPr lang="en-US" altLang="zh-CN" i="1"/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altLang="zh-CN" i="1"/>
                          <m:t>𝑡</m:t>
                        </m:r>
                        <m:r>
                          <a:rPr lang="zh-CN" altLang="zh-CN"/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zh-CN" altLang="zh-CN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i="1"/>
                                </m:ctrlPr>
                              </m:sSubPr>
                              <m:e>
                                <m:r>
                                  <a:rPr lang="en-US" altLang="zh-CN" i="1"/>
                                  <m:t>𝑇</m:t>
                                </m:r>
                              </m:e>
                              <m:sub>
                                <m:r>
                                  <a:rPr lang="en-US" altLang="zh-CN" i="1"/>
                                  <m:t>0</m:t>
                                </m:r>
                              </m:sub>
                            </m:sSub>
                          </m:e>
                        </m:d>
                      </m:sub>
                    </m:sSub>
                  </m:oMath>
                </a14:m>
                <a:endParaRPr lang="en-US" altLang="zh-CN" dirty="0"/>
              </a:p>
              <a:p>
                <a:pPr lvl="1"/>
                <a:r>
                  <a:rPr lang="en-US" altLang="zh-CN" dirty="0"/>
                  <a:t>Repeat for </a:t>
                </a:r>
                <a14:m>
                  <m:oMath xmlns:m="http://schemas.openxmlformats.org/officeDocument/2006/math">
                    <m:r>
                      <a:rPr lang="en-US" altLang="zh-CN"/>
                      <m:t>𝑡</m:t>
                    </m:r>
                    <m:r>
                      <a:rPr lang="en-US" altLang="zh-CN"/>
                      <m:t>=</m:t>
                    </m:r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a:rPr lang="en-US" altLang="zh-CN"/>
                          <m:t>𝑇</m:t>
                        </m:r>
                      </m:e>
                      <m:sub>
                        <m:r>
                          <a:rPr lang="en-US" altLang="zh-CN"/>
                          <m:t>0</m:t>
                        </m:r>
                      </m:sub>
                    </m:sSub>
                    <m:r>
                      <a:rPr lang="en-US" altLang="zh-CN"/>
                      <m:t>+1</m:t>
                    </m:r>
                  </m:oMath>
                </a14:m>
                <a:r>
                  <a:rPr lang="en-US" altLang="zh-CN" dirty="0"/>
                  <a:t> to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zh-CN" dirty="0"/>
                  <a:t> rounds</a:t>
                </a:r>
              </a:p>
              <a:p>
                <a:pPr lvl="2"/>
                <a:r>
                  <a:rPr lang="en-US" altLang="zh-CN" dirty="0"/>
                  <a:t>Apply MLE to estimate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/>
                            </m:ctrlPr>
                          </m:accPr>
                          <m:e>
                            <m:r>
                              <a:rPr lang="en-US" altLang="zh-CN"/>
                              <m:t>𝛉</m:t>
                            </m:r>
                          </m:e>
                        </m:acc>
                      </m:e>
                      <m:sub>
                        <m:r>
                          <a:rPr lang="en-US" altLang="zh-CN"/>
                          <m:t>𝑡</m:t>
                        </m:r>
                        <m:r>
                          <a:rPr lang="en-US" altLang="zh-CN"/>
                          <m:t>−1,</m:t>
                        </m:r>
                        <m:r>
                          <a:rPr lang="en-US" altLang="zh-CN"/>
                          <m:t>𝑋</m:t>
                        </m:r>
                      </m:sub>
                    </m:sSub>
                  </m:oMath>
                </a14:m>
                <a:r>
                  <a:rPr lang="en-US" altLang="zh-CN" dirty="0"/>
                  <a:t> for every </a:t>
                </a:r>
                <a14:m>
                  <m:oMath xmlns:m="http://schemas.openxmlformats.org/officeDocument/2006/math">
                    <m:r>
                      <a:rPr lang="en-US" altLang="zh-CN"/>
                      <m:t>𝑋</m:t>
                    </m:r>
                  </m:oMath>
                </a14:m>
                <a:r>
                  <a:rPr lang="en-US" altLang="zh-CN" dirty="0"/>
                  <a:t>, using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d>
                          <m:dPr>
                            <m:ctrlPr>
                              <a:rPr lang="zh-CN" altLang="zh-CN"/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/>
                                </m:ctrlPr>
                              </m:sSubPr>
                              <m:e>
                                <m:r>
                                  <a:rPr lang="en-US" altLang="zh-CN"/>
                                  <m:t>𝑿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zh-CN" altLang="zh-CN"/>
                                    </m:ctrlPr>
                                  </m:sSupPr>
                                  <m:e>
                                    <m:r>
                                      <a:rPr lang="en-US" altLang="zh-CN"/>
                                      <m:t>𝑡</m:t>
                                    </m:r>
                                  </m:e>
                                  <m:sup>
                                    <m:r>
                                      <a:rPr lang="en-US" altLang="zh-CN"/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  <m:r>
                              <a:rPr lang="en-US" altLang="zh-CN"/>
                              <m:t>,</m:t>
                            </m:r>
                            <m:sSub>
                              <m:sSubPr>
                                <m:ctrlPr>
                                  <a:rPr lang="zh-CN" altLang="zh-CN"/>
                                </m:ctrlPr>
                              </m:sSubPr>
                              <m:e>
                                <m:r>
                                  <a:rPr lang="en-US" altLang="zh-CN"/>
                                  <m:t>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zh-CN" altLang="zh-CN"/>
                                    </m:ctrlPr>
                                  </m:sSupPr>
                                  <m:e>
                                    <m:r>
                                      <a:rPr lang="en-US" altLang="zh-CN"/>
                                      <m:t>𝑡</m:t>
                                    </m:r>
                                  </m:e>
                                  <m:sup>
                                    <m:r>
                                      <a:rPr lang="en-US" altLang="zh-CN"/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</m:e>
                        </m:d>
                      </m:e>
                      <m:sub>
                        <m:sSup>
                          <m:sSupPr>
                            <m:ctrlPr>
                              <a:rPr lang="zh-CN" altLang="zh-CN"/>
                            </m:ctrlPr>
                          </m:sSupPr>
                          <m:e>
                            <m:r>
                              <a:rPr lang="en-US" altLang="zh-CN"/>
                              <m:t>𝑡</m:t>
                            </m:r>
                          </m:e>
                          <m:sup>
                            <m:r>
                              <a:rPr lang="en-US" altLang="zh-CN"/>
                              <m:t>′</m:t>
                            </m:r>
                          </m:sup>
                        </m:sSup>
                        <m:r>
                          <a:rPr lang="zh-CN" altLang="zh-CN"/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zh-CN" altLang="zh-CN"/>
                            </m:ctrlPr>
                          </m:dPr>
                          <m:e>
                            <m:r>
                              <a:rPr lang="en-US" altLang="zh-CN"/>
                              <m:t>𝑡</m:t>
                            </m:r>
                            <m:r>
                              <a:rPr lang="en-US" altLang="zh-CN"/>
                              <m:t>−1</m:t>
                            </m:r>
                          </m:e>
                        </m:d>
                      </m:sub>
                    </m:sSub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/>
                  <a:t>Compute confidence region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a:rPr lang="en-US" altLang="zh-CN"/>
                          <m:t>𝒞</m:t>
                        </m:r>
                      </m:e>
                      <m:sub>
                        <m:r>
                          <a:rPr lang="en-US" altLang="zh-CN"/>
                          <m:t>𝑡</m:t>
                        </m:r>
                        <m:r>
                          <a:rPr lang="en-US" altLang="zh-CN"/>
                          <m:t>,</m:t>
                        </m:r>
                        <m:r>
                          <a:rPr lang="en-US" altLang="zh-CN"/>
                          <m:t>𝑋</m:t>
                        </m:r>
                      </m:sub>
                    </m:sSub>
                  </m:oMath>
                </a14:m>
                <a:r>
                  <a:rPr lang="en-US" altLang="zh-CN" dirty="0"/>
                  <a:t> surrounding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𝛉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altLang="zh-CN" dirty="0"/>
                  <a:t> for every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zh-CN" altLang="zh-CN"/>
                        </m:ctrlPr>
                      </m:dPr>
                      <m:e>
                        <m:sSub>
                          <m:sSubPr>
                            <m:ctrlPr>
                              <a:rPr lang="zh-CN" altLang="zh-CN"/>
                            </m:ctrlPr>
                          </m:sSubPr>
                          <m:e>
                            <m:r>
                              <a:rPr lang="en-US" altLang="zh-CN" b="1" i="1"/>
                              <m:t>𝐒</m:t>
                            </m:r>
                          </m:e>
                          <m:sub>
                            <m:r>
                              <a:rPr lang="en-US" altLang="zh-CN"/>
                              <m:t>𝑡</m:t>
                            </m:r>
                          </m:sub>
                        </m:sSub>
                        <m:r>
                          <a:rPr lang="en-US" altLang="zh-CN"/>
                          <m:t>,</m:t>
                        </m:r>
                        <m:sSub>
                          <m:sSubPr>
                            <m:ctrlPr>
                              <a:rPr lang="zh-CN" altLang="zh-CN"/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zh-CN"/>
                                </m:ctrlPr>
                              </m:accPr>
                              <m:e>
                                <m:r>
                                  <a:rPr lang="en-US" altLang="zh-CN" b="1" i="1"/>
                                  <m:t>𝛉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/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zh-CN"/>
                      <m:t>=</m:t>
                    </m:r>
                    <m:r>
                      <m:rPr>
                        <m:sty m:val="p"/>
                      </m:rPr>
                      <a:rPr lang="en-US" altLang="zh-CN" i="0"/>
                      <m:t>argma</m:t>
                    </m:r>
                    <m:sSub>
                      <m:sSubPr>
                        <m:ctrlPr>
                          <a:rPr lang="zh-CN" altLang="zh-CN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i="0"/>
                          <m:t>x</m:t>
                        </m:r>
                      </m:e>
                      <m:sub>
                        <m:r>
                          <a:rPr lang="en-US" altLang="zh-CN" b="1" i="1"/>
                          <m:t>𝐒</m:t>
                        </m:r>
                        <m:r>
                          <a:rPr lang="en-US" altLang="zh-CN"/>
                          <m:t>⊆</m:t>
                        </m:r>
                        <m:r>
                          <a:rPr lang="en-US" altLang="zh-CN" b="1" i="1"/>
                          <m:t>𝐗</m:t>
                        </m:r>
                        <m:r>
                          <a:rPr lang="en-US" altLang="zh-CN"/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zh-CN" altLang="zh-CN"/>
                            </m:ctrlPr>
                          </m:dPr>
                          <m:e>
                            <m:r>
                              <a:rPr lang="en-US" altLang="zh-CN" b="1" i="1"/>
                              <m:t>𝐒</m:t>
                            </m:r>
                          </m:e>
                        </m:d>
                        <m:r>
                          <a:rPr lang="zh-CN" altLang="zh-CN"/>
                          <m:t>≤</m:t>
                        </m:r>
                        <m:r>
                          <a:rPr lang="en-US" altLang="zh-CN"/>
                          <m:t>𝐾</m:t>
                        </m:r>
                        <m:r>
                          <a:rPr lang="en-US" altLang="zh-CN"/>
                          <m:t>,</m:t>
                        </m:r>
                        <m:sSubSup>
                          <m:sSubSupPr>
                            <m:ctrlPr>
                              <a:rPr lang="zh-CN" altLang="zh-CN"/>
                            </m:ctrlPr>
                          </m:sSubSupPr>
                          <m:e>
                            <m:r>
                              <a:rPr lang="en-US" altLang="zh-CN" b="1" i="1"/>
                              <m:t>𝛉</m:t>
                            </m:r>
                          </m:e>
                          <m:sub>
                            <m:r>
                              <a:rPr lang="en-US" altLang="zh-CN"/>
                              <m:t>𝑡</m:t>
                            </m:r>
                            <m:r>
                              <a:rPr lang="en-US" altLang="zh-CN"/>
                              <m:t>,</m:t>
                            </m:r>
                            <m:r>
                              <a:rPr lang="en-US" altLang="zh-CN"/>
                              <m:t>𝑋</m:t>
                            </m:r>
                          </m:sub>
                          <m:sup>
                            <m:r>
                              <a:rPr lang="en-US" altLang="zh-CN"/>
                              <m:t>′</m:t>
                            </m:r>
                          </m:sup>
                        </m:sSubSup>
                        <m:r>
                          <a:rPr lang="zh-CN" altLang="zh-CN"/>
                          <m:t>∈</m:t>
                        </m:r>
                        <m:sSub>
                          <m:sSubPr>
                            <m:ctrlPr>
                              <a:rPr lang="zh-CN" altLang="zh-CN"/>
                            </m:ctrlPr>
                          </m:sSubPr>
                          <m:e>
                            <m:r>
                              <a:rPr lang="en-US" altLang="zh-CN"/>
                              <m:t>𝒞</m:t>
                            </m:r>
                          </m:e>
                          <m:sub>
                            <m:r>
                              <a:rPr lang="en-US" altLang="zh-CN"/>
                              <m:t>𝑡</m:t>
                            </m:r>
                            <m:r>
                              <a:rPr lang="en-US" altLang="zh-CN"/>
                              <m:t>,</m:t>
                            </m:r>
                            <m:r>
                              <a:rPr lang="en-US" altLang="zh-CN"/>
                              <m:t>𝑋</m:t>
                            </m:r>
                          </m:sub>
                        </m:sSub>
                      </m:sub>
                    </m:sSub>
                    <m:r>
                      <a:rPr lang="en-US" altLang="zh-CN"/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zh-CN" altLang="zh-CN"/>
                        </m:ctrlPr>
                      </m:dPr>
                      <m:e>
                        <m:r>
                          <a:rPr lang="en-US" altLang="zh-CN"/>
                          <m:t>𝑌</m:t>
                        </m:r>
                      </m:e>
                      <m:e>
                        <m:r>
                          <a:rPr lang="en-US" altLang="zh-CN"/>
                          <m:t>𝑑𝑜</m:t>
                        </m:r>
                        <m:d>
                          <m:dPr>
                            <m:ctrlPr>
                              <a:rPr lang="zh-CN" altLang="zh-CN"/>
                            </m:ctrlPr>
                          </m:dPr>
                          <m:e>
                            <m:r>
                              <a:rPr lang="en-US" altLang="zh-CN" b="1" i="1"/>
                              <m:t>𝐒</m:t>
                            </m:r>
                          </m:e>
                        </m:d>
                      </m:e>
                    </m:d>
                  </m:oMath>
                </a14:m>
                <a:endParaRPr lang="zh-CN" altLang="zh-CN" dirty="0"/>
              </a:p>
              <a:p>
                <a:pPr lvl="2"/>
                <a:r>
                  <a:rPr lang="en-US" altLang="zh-CN" dirty="0"/>
                  <a:t>Intervene all nodes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/>
                        </m:ctrlPr>
                      </m:sSubPr>
                      <m:e>
                        <m:r>
                          <a:rPr lang="en-US" altLang="zh-CN" b="1" i="0"/>
                          <m:t>𝐒</m:t>
                        </m:r>
                      </m:e>
                      <m:sub>
                        <m:r>
                          <a:rPr lang="en-US" altLang="zh-CN" i="1"/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 to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CN" dirty="0"/>
                  <a:t>, and observe the feedback</a:t>
                </a:r>
                <a:r>
                  <a:rPr lang="zh-CN" altLang="zh-CN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.</a:t>
                </a:r>
                <a:endParaRPr lang="zh-CN" altLang="zh-CN" dirty="0"/>
              </a:p>
              <a:p>
                <a:pPr lvl="1"/>
                <a:endParaRPr lang="zh-CN" altLang="zh-CN" dirty="0"/>
              </a:p>
            </p:txBody>
          </p:sp>
        </mc:Choice>
        <mc:Fallback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  <a:blipFill>
                <a:blip r:embed="rId2"/>
                <a:stretch>
                  <a:fillRect l="-463" t="-17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8381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Regret of the Algorithm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CN" sz="2400" b="1" dirty="0"/>
                  <a:t>Regret: </a:t>
                </a:r>
                <a14:m>
                  <m:oMath xmlns:m="http://schemas.openxmlformats.org/officeDocument/2006/math">
                    <m:r>
                      <a:rPr lang="en-US" altLang="zh-CN" sz="24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𝑅</m:t>
                    </m:r>
                    <m:d>
                      <m:dPr>
                        <m:ctrlPr>
                          <a:rPr lang="zh-CN" altLang="zh-CN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</m:d>
                    <m:r>
                      <a:rPr lang="en-US" altLang="zh-CN" sz="24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24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zh-CN" altLang="zh-CN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zh-CN" altLang="zh-CN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CN" sz="2400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κ</m:t>
                            </m:r>
                          </m:den>
                        </m:f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  <m:sSubSup>
                          <m:sSubSupPr>
                            <m:ctrlPr>
                              <a:rPr lang="zh-CN" altLang="zh-CN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𝑚𝑎𝑥</m:t>
                            </m:r>
                          </m:sub>
                          <m:sup>
                            <m:d>
                              <m:dPr>
                                <m:ctrlPr>
                                  <a:rPr lang="zh-CN" altLang="zh-CN" sz="24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i="1" kern="100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ad>
                          <m:radPr>
                            <m:degHide m:val="on"/>
                            <m:ctrlPr>
                              <a:rPr lang="zh-CN" altLang="zh-CN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𝐷𝑇</m:t>
                            </m:r>
                          </m:e>
                        </m:rad>
                        <m:func>
                          <m:funcPr>
                            <m:ctrlPr>
                              <a:rPr lang="zh-CN" altLang="zh-CN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𝑙𝑜𝑔</m:t>
                            </m:r>
                          </m:fName>
                          <m:e>
                            <m:r>
                              <a:rPr lang="en-US" altLang="zh-CN" sz="24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func>
                      </m:e>
                    </m:d>
                  </m:oMath>
                </a14:m>
                <a:endParaRPr lang="en-US" altLang="zh-CN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/>
                      <m:t>𝑛</m:t>
                    </m:r>
                  </m:oMath>
                </a14:m>
                <a:r>
                  <a:rPr lang="en-US" altLang="zh-CN" sz="1800" dirty="0"/>
                  <a:t>: number of nodes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/>
                      <m:t>κ</m:t>
                    </m:r>
                  </m:oMath>
                </a14:m>
                <a:r>
                  <a:rPr lang="en-US" altLang="zh-CN" sz="1800" dirty="0"/>
                  <a:t>: lower bound of the first order derivative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/>
                        </m:ctrlPr>
                      </m:sSubPr>
                      <m:e>
                        <m:r>
                          <a:rPr lang="en-US" altLang="zh-CN" sz="1800"/>
                          <m:t>𝑓</m:t>
                        </m:r>
                      </m:e>
                      <m:sub>
                        <m:r>
                          <a:rPr lang="en-US" altLang="zh-CN" sz="1800"/>
                          <m:t>𝑋</m:t>
                        </m:r>
                      </m:sub>
                    </m:sSub>
                  </m:oMath>
                </a14:m>
                <a:r>
                  <a:rPr lang="en-US" altLang="zh-CN" sz="1800" dirty="0"/>
                  <a:t>’s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800"/>
                        </m:ctrlPr>
                      </m:sSubSupPr>
                      <m:e>
                        <m:r>
                          <a:rPr lang="en-US" altLang="zh-CN" sz="1800"/>
                          <m:t>𝐿</m:t>
                        </m:r>
                      </m:e>
                      <m:sub>
                        <m:r>
                          <a:rPr lang="en-US" altLang="zh-CN" sz="1800"/>
                          <m:t>𝑚𝑎𝑥</m:t>
                        </m:r>
                      </m:sub>
                      <m:sup>
                        <m:d>
                          <m:dPr>
                            <m:ctrlPr>
                              <a:rPr lang="zh-CN" altLang="zh-CN" sz="1800"/>
                            </m:ctrlPr>
                          </m:dPr>
                          <m:e>
                            <m:r>
                              <a:rPr lang="en-US" altLang="zh-CN" sz="1800"/>
                              <m:t>1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US" altLang="zh-CN" sz="1800" dirty="0"/>
                  <a:t>: upper bound of the first order derivative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/>
                        </m:ctrlPr>
                      </m:sSubPr>
                      <m:e>
                        <m:r>
                          <a:rPr lang="en-US" altLang="zh-CN" sz="1800"/>
                          <m:t>𝑓</m:t>
                        </m:r>
                      </m:e>
                      <m:sub>
                        <m:r>
                          <a:rPr lang="en-US" altLang="zh-CN" sz="1800"/>
                          <m:t>𝑋</m:t>
                        </m:r>
                      </m:sub>
                    </m:sSub>
                  </m:oMath>
                </a14:m>
                <a:r>
                  <a:rPr lang="en-US" altLang="zh-CN" sz="1800" dirty="0"/>
                  <a:t>’s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zh-CN" sz="1800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𝐷</m:t>
                    </m:r>
                  </m:oMath>
                </a14:m>
                <a:r>
                  <a:rPr lang="en-US" altLang="zh-CN" sz="1800" dirty="0"/>
                  <a:t>: maximum size of the parent set</a:t>
                </a:r>
              </a:p>
              <a:p>
                <a:pPr lvl="1"/>
                <a:r>
                  <a:rPr lang="en-US" altLang="zh-CN" sz="1800" dirty="0">
                    <a:solidFill>
                      <a:schemeClr val="accent1"/>
                    </a:solidFill>
                  </a:rPr>
                  <a:t>The key is the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zh-CN" altLang="zh-CN" sz="1800">
                            <a:solidFill>
                              <a:schemeClr val="accent1"/>
                            </a:solidFill>
                          </a:rPr>
                        </m:ctrlPr>
                      </m:accPr>
                      <m:e>
                        <m:r>
                          <a:rPr lang="en-US" altLang="zh-CN" sz="1800">
                            <a:solidFill>
                              <a:schemeClr val="accent1"/>
                            </a:solidFill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zh-CN" altLang="zh-CN" sz="1800">
                            <a:solidFill>
                              <a:schemeClr val="accent1"/>
                            </a:solidFill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zh-CN" altLang="zh-CN" sz="1800">
                                <a:solidFill>
                                  <a:schemeClr val="accent1"/>
                                </a:solidFill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sz="1800">
                                <a:solidFill>
                                  <a:schemeClr val="accent1"/>
                                </a:solidFill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altLang="zh-CN" sz="1800" dirty="0">
                    <a:solidFill>
                      <a:schemeClr val="accent1"/>
                    </a:solidFill>
                  </a:rPr>
                  <a:t> regret with respect to </a:t>
                </a:r>
                <a14:m>
                  <m:oMath xmlns:m="http://schemas.openxmlformats.org/officeDocument/2006/math">
                    <m:r>
                      <a:rPr lang="en-US" altLang="zh-CN" sz="1800">
                        <a:solidFill>
                          <a:schemeClr val="accent1"/>
                        </a:solidFill>
                      </a:rPr>
                      <m:t>𝑇</m:t>
                    </m:r>
                  </m:oMath>
                </a14:m>
                <a:endParaRPr lang="en-US" altLang="zh-CN" sz="1800" dirty="0">
                  <a:solidFill>
                    <a:schemeClr val="accent1"/>
                  </a:solidFill>
                </a:endParaRPr>
              </a:p>
              <a:p>
                <a:r>
                  <a:rPr lang="en-US" altLang="zh-CN" sz="2400" b="1" dirty="0"/>
                  <a:t>Main technical analysis:</a:t>
                </a:r>
              </a:p>
              <a:p>
                <a:pPr lvl="1"/>
                <a:r>
                  <a:rPr lang="en-US" altLang="zh-CN" sz="1800" dirty="0"/>
                  <a:t>Learning part, to </a:t>
                </a:r>
                <a:r>
                  <a:rPr lang="en-US" altLang="zh-CN" sz="1800" dirty="0">
                    <a:solidFill>
                      <a:schemeClr val="accent1"/>
                    </a:solidFill>
                  </a:rPr>
                  <a:t>show MLE is accurate enough</a:t>
                </a:r>
                <a:r>
                  <a:rPr lang="en-US" altLang="zh-CN" sz="1800" dirty="0"/>
                  <a:t>, and derive confidence region bound</a:t>
                </a:r>
              </a:p>
              <a:p>
                <a:pPr lvl="1"/>
                <a:r>
                  <a:rPr lang="en-US" altLang="zh-CN" sz="1800" dirty="0">
                    <a:solidFill>
                      <a:schemeClr val="accent1"/>
                    </a:solidFill>
                  </a:rPr>
                  <a:t>Group Observation Modulated (GOM) bounded smoothness</a:t>
                </a:r>
                <a:r>
                  <a:rPr lang="en-US" altLang="zh-CN" sz="1800" dirty="0"/>
                  <a:t>: show that a small parameter change will lead to a bounded reward change</a:t>
                </a:r>
                <a:endParaRPr lang="zh-CN" altLang="zh-CN" sz="1800" dirty="0"/>
              </a:p>
            </p:txBody>
          </p:sp>
        </mc:Choice>
        <mc:Fallback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  <a:blipFill>
                <a:blip r:embed="rId2"/>
                <a:stretch>
                  <a:fillRect l="-5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8520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Combinatorial Causal Bandits on BGLMs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Combinatorial Causal Bandits on BLMs</a:t>
            </a:r>
          </a:p>
          <a:p>
            <a:r>
              <a:rPr lang="en-US" altLang="zh-CN" dirty="0"/>
              <a:t>Simulations</a:t>
            </a:r>
          </a:p>
          <a:p>
            <a:r>
              <a:rPr lang="en-US" altLang="zh-CN" dirty="0"/>
              <a:t>Future Work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6786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CCB under Binary Linear Model (BLM) with Hidden Variables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sz="2400" dirty="0"/>
                  <a:t>For the linear model, apply a large class of models with hidden variables</a:t>
                </a:r>
              </a:p>
              <a:p>
                <a:pPr lvl="1"/>
                <a:r>
                  <a:rPr lang="en-US" altLang="zh-CN" sz="2000" dirty="0"/>
                  <a:t>As long as a hidden variable is not pointing to both an observed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sz="2000" dirty="0"/>
                  <a:t> and an observed descendant of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CN" sz="2000" dirty="0"/>
                  <a:t> via hidden paths</a:t>
                </a:r>
              </a:p>
              <a:p>
                <a:r>
                  <a:rPr lang="en-US" altLang="zh-CN" sz="2200" dirty="0"/>
                  <a:t>Approach: convert the causal graph into an equivalent graph without hidden variables, then apply BGLM algorithm</a:t>
                </a:r>
              </a:p>
              <a:p>
                <a:pPr lvl="1"/>
                <a:r>
                  <a:rPr lang="en-US" altLang="zh-CN" sz="2000" dirty="0"/>
                  <a:t>Conversion is possible due to the linear relationship</a:t>
                </a:r>
              </a:p>
              <a:p>
                <a:pPr lvl="1"/>
                <a:r>
                  <a:rPr lang="en-US" altLang="zh-CN" sz="2000" dirty="0">
                    <a:solidFill>
                      <a:schemeClr val="accent1"/>
                    </a:solidFill>
                  </a:rPr>
                  <a:t>Rely on do-calculus (Pearl, 2009) to argue about the equivalence</a:t>
                </a:r>
              </a:p>
              <a:p>
                <a:pPr lvl="1"/>
                <a:r>
                  <a:rPr lang="en-US" altLang="zh-CN" sz="2000" dirty="0"/>
                  <a:t>Using </a:t>
                </a:r>
                <a:r>
                  <a:rPr lang="en-US" altLang="zh-CN" sz="2000" dirty="0">
                    <a:solidFill>
                      <a:schemeClr val="accent1"/>
                    </a:solidFill>
                  </a:rPr>
                  <a:t>linear regression</a:t>
                </a:r>
                <a:r>
                  <a:rPr lang="en-US" altLang="zh-CN" sz="2000" dirty="0"/>
                  <a:t> instead of MLE can remove the assumption on parameters (BLM-LR algorithm)</a:t>
                </a:r>
              </a:p>
            </p:txBody>
          </p:sp>
        </mc:Choice>
        <mc:Fallback>
          <p:sp>
            <p:nvSpPr>
              <p:cNvPr id="2" name="Content Placeholder 3">
                <a:extLst>
                  <a:ext uri="{FF2B5EF4-FFF2-40B4-BE49-F238E27FC236}">
                    <a16:creationId xmlns:a16="http://schemas.microsoft.com/office/drawing/2014/main" id="{E9F89389-077D-E4F7-4B16-C2805C250F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7699" y="2051410"/>
                <a:ext cx="10521388" cy="4213166"/>
              </a:xfrm>
              <a:blipFill>
                <a:blip r:embed="rId2"/>
                <a:stretch>
                  <a:fillRect l="-579" t="-11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765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Combinatorial Causal Bandits on BGLMs</a:t>
            </a:r>
          </a:p>
          <a:p>
            <a:r>
              <a:rPr lang="en-US" altLang="zh-CN" dirty="0"/>
              <a:t>Combinatorial Causal Bandits on BLMs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Simulations</a:t>
            </a:r>
          </a:p>
          <a:p>
            <a:r>
              <a:rPr lang="en-US" altLang="zh-CN" dirty="0"/>
              <a:t>Future Work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8974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07C298-BBDA-2946-B9D9-D457CECF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463" y="4928762"/>
            <a:ext cx="10333301" cy="653148"/>
          </a:xfrm>
        </p:spPr>
        <p:txBody>
          <a:bodyPr/>
          <a:lstStyle/>
          <a:p>
            <a:r>
              <a:rPr lang="en-US" altLang="zh-CN" dirty="0"/>
              <a:t>Simulations on a Parallel BLM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021463" y="5581910"/>
                <a:ext cx="10333301" cy="36512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Comparison of average regrets when BLM-LR, BGLM-OFU, UCB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ϵ</m:t>
                    </m:r>
                  </m:oMath>
                </a14:m>
                <a:r>
                  <a:rPr lang="en-US" altLang="zh-CN" dirty="0"/>
                  <a:t>-greedy are applied on a parallel BLM</a:t>
                </a:r>
                <a:endParaRPr lang="zh-CN" altLang="en-US" dirty="0"/>
              </a:p>
            </p:txBody>
          </p:sp>
        </mc:Choice>
        <mc:Fallback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021463" y="5581910"/>
                <a:ext cx="10333301" cy="365126"/>
              </a:xfrm>
              <a:blipFill>
                <a:blip r:embed="rId2"/>
                <a:stretch>
                  <a:fillRect l="-354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3DF16F35-870E-0BFF-D170-A0AD267BB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762" y="1980049"/>
            <a:ext cx="3728002" cy="1462220"/>
          </a:xfrm>
          <a:prstGeom prst="rect">
            <a:avLst/>
          </a:prstGeom>
        </p:spPr>
      </p:pic>
      <p:pic>
        <p:nvPicPr>
          <p:cNvPr id="9" name="Picture 8" descr="Chart, line chart&#10;&#10;Description automatically generated">
            <a:extLst>
              <a:ext uri="{FF2B5EF4-FFF2-40B4-BE49-F238E27FC236}">
                <a16:creationId xmlns:a16="http://schemas.microsoft.com/office/drawing/2014/main" id="{B19CF172-1A87-8E97-A383-5C392B706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93" y="910964"/>
            <a:ext cx="6793653" cy="360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931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Combinatorial Causal Bandits on BGLMs</a:t>
            </a:r>
          </a:p>
          <a:p>
            <a:r>
              <a:rPr lang="en-US" altLang="zh-CN" dirty="0"/>
              <a:t>Combinatorial Causal Bandits on BLMs</a:t>
            </a:r>
          </a:p>
          <a:p>
            <a:r>
              <a:rPr lang="en-US" altLang="zh-CN" dirty="0"/>
              <a:t>Simulations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Future Work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273152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Future Work</a:t>
            </a:r>
            <a:endParaRPr lang="zh-CN" alt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9F89389-077D-E4F7-4B16-C2805C250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7699" y="2051410"/>
            <a:ext cx="10521388" cy="4213166"/>
          </a:xfrm>
        </p:spPr>
        <p:txBody>
          <a:bodyPr>
            <a:normAutofit/>
          </a:bodyPr>
          <a:lstStyle/>
          <a:p>
            <a:r>
              <a:rPr lang="en-US" altLang="zh-CN" sz="2000" dirty="0"/>
              <a:t>For the BGLM model</a:t>
            </a:r>
          </a:p>
          <a:p>
            <a:pPr lvl="1"/>
            <a:r>
              <a:rPr lang="en-US" altLang="zh-CN" dirty="0"/>
              <a:t>How to remove assumptions</a:t>
            </a:r>
          </a:p>
          <a:p>
            <a:pPr lvl="1"/>
            <a:r>
              <a:rPr lang="en-US" altLang="zh-CN" dirty="0"/>
              <a:t>How to deal with hidden variables</a:t>
            </a:r>
          </a:p>
          <a:p>
            <a:pPr lvl="1"/>
            <a:r>
              <a:rPr lang="en-US" altLang="zh-CN" dirty="0"/>
              <a:t>How to make the computation more efficient</a:t>
            </a:r>
          </a:p>
          <a:p>
            <a:r>
              <a:rPr lang="en-US" altLang="zh-CN" sz="2000" dirty="0"/>
              <a:t>For the linear model</a:t>
            </a:r>
          </a:p>
          <a:p>
            <a:pPr lvl="1"/>
            <a:r>
              <a:rPr lang="en-US" altLang="zh-CN" dirty="0"/>
              <a:t>How to remove the assumption on the graph structure with hidden variables</a:t>
            </a:r>
          </a:p>
          <a:p>
            <a:r>
              <a:rPr lang="en-US" altLang="zh-CN" sz="2000" dirty="0"/>
              <a:t>More generally, how to apply CCB to other classes of models</a:t>
            </a:r>
          </a:p>
          <a:p>
            <a:r>
              <a:rPr lang="en-US" altLang="zh-CN" sz="2000" dirty="0"/>
              <a:t>How to do causal bandits when the causal graph is not fully known?</a:t>
            </a:r>
          </a:p>
        </p:txBody>
      </p:sp>
    </p:spTree>
    <p:extLst>
      <p:ext uri="{BB962C8B-B14F-4D97-AF65-F5344CB8AC3E}">
        <p14:creationId xmlns:p14="http://schemas.microsoft.com/office/powerpoint/2010/main" val="90652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/>
          <a:lstStyle/>
          <a:p>
            <a:r>
              <a:rPr lang="en-US" altLang="zh-CN" dirty="0"/>
              <a:t>AAAI 2023 Presentation by Shi Feng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/>
          <a:lstStyle/>
          <a:p>
            <a:r>
              <a:rPr lang="en-US" altLang="zh-CN" dirty="0"/>
              <a:t>Thank you for watching!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0218955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16:9">
  <a:themeElements>
    <a:clrScheme name="清华紫主题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660874"/>
      </a:accent1>
      <a:accent2>
        <a:srgbClr val="660874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10691</TotalTime>
  <Words>975</Words>
  <Application>Microsoft Office PowerPoint</Application>
  <PresentationFormat>Widescreen</PresentationFormat>
  <Paragraphs>140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DengXian</vt:lpstr>
      <vt:lpstr>DengXian</vt:lpstr>
      <vt:lpstr>Arial</vt:lpstr>
      <vt:lpstr>Cambria Math</vt:lpstr>
      <vt:lpstr>Gill Sans MT</vt:lpstr>
      <vt:lpstr>Wingdings 2</vt:lpstr>
      <vt:lpstr>清华简约主题-扁平-16:9</vt:lpstr>
      <vt:lpstr>Combinatorial Causal Bandits</vt:lpstr>
      <vt:lpstr>Contents</vt:lpstr>
      <vt:lpstr>Combinatorial Causal Bandits (CCB)</vt:lpstr>
      <vt:lpstr>Combinatorial Optimization with Online Learning</vt:lpstr>
      <vt:lpstr>CCB Model: Causal Graph Model</vt:lpstr>
      <vt:lpstr>CCB Model: Learning Process and the Goal</vt:lpstr>
      <vt:lpstr>Application of CCB</vt:lpstr>
      <vt:lpstr>Contents</vt:lpstr>
      <vt:lpstr>Binary Generalized Linear Model (BGLM)</vt:lpstr>
      <vt:lpstr>Challenges of BGLM CCB</vt:lpstr>
      <vt:lpstr>Our Approach</vt:lpstr>
      <vt:lpstr>CCB for BGLM under Markovian Models</vt:lpstr>
      <vt:lpstr>Regret of the Algorithm</vt:lpstr>
      <vt:lpstr>Contents</vt:lpstr>
      <vt:lpstr>CCB under Binary Linear Model (BLM) with Hidden Variables</vt:lpstr>
      <vt:lpstr>Contents</vt:lpstr>
      <vt:lpstr>Simulations on a Parallel BLM</vt:lpstr>
      <vt:lpstr>Contents</vt:lpstr>
      <vt:lpstr>Future Work</vt:lpstr>
      <vt:lpstr>Thank you for watching!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 伟浩</dc:creator>
  <cp:lastModifiedBy>Feng Shi</cp:lastModifiedBy>
  <cp:revision>1339</cp:revision>
  <cp:lastPrinted>2020-04-04T02:50:47Z</cp:lastPrinted>
  <dcterms:created xsi:type="dcterms:W3CDTF">2020-01-04T07:43:38Z</dcterms:created>
  <dcterms:modified xsi:type="dcterms:W3CDTF">2022-12-29T07:55:17Z</dcterms:modified>
</cp:coreProperties>
</file>